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74720"/>
            <a:ext cx="12191695"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71600"/>
            <a:ext cx="11185855" cy="1188720"/>
          </a:xfrm>
          <a:prstGeom prst="rect">
            <a:avLst/>
          </a:prstGeom>
          <a:noFill/>
        </p:spPr>
        <p:txBody>
          <a:bodyPr wrap="square">
            <a:spAutoFit/>
          </a:bodyPr>
          <a:lstStyle/>
          <a:p>
            <a:pPr algn="ctr"/>
            <a:r>
              <a:rPr sz="4400" b="1" i="0">
                <a:solidFill>
                  <a:srgbClr val="FFFFFF"/>
                </a:solidFill>
              </a:rPr>
              <a:t>LLM-Guided Fuzzing Seed Corpora</a:t>
            </a:r>
          </a:p>
        </p:txBody>
      </p:sp>
      <p:sp>
        <p:nvSpPr>
          <p:cNvPr id="5" name="TextBox 4"/>
          <p:cNvSpPr txBox="1"/>
          <p:nvPr/>
        </p:nvSpPr>
        <p:spPr>
          <a:xfrm>
            <a:off x="502920" y="2651760"/>
            <a:ext cx="11185855" cy="822960"/>
          </a:xfrm>
          <a:prstGeom prst="rect">
            <a:avLst/>
          </a:prstGeom>
          <a:noFill/>
        </p:spPr>
        <p:txBody>
          <a:bodyPr wrap="square">
            <a:spAutoFit/>
          </a:bodyPr>
          <a:lstStyle/>
          <a:p>
            <a:pPr algn="ctr"/>
            <a:r>
              <a:rPr sz="1800" b="0" i="0">
                <a:solidFill>
                  <a:srgbClr val="CADCFC"/>
                </a:solidFill>
              </a:rPr>
              <a:t>First A/B experiment on RE2  ·  regex-format prompt rewrite  ·  generalization analysis</a:t>
            </a:r>
          </a:p>
        </p:txBody>
      </p:sp>
      <p:sp>
        <p:nvSpPr>
          <p:cNvPr id="6" name="TextBox 5"/>
          <p:cNvSpPr txBox="1"/>
          <p:nvPr/>
        </p:nvSpPr>
        <p:spPr>
          <a:xfrm>
            <a:off x="502920" y="3840480"/>
            <a:ext cx="11185855" cy="457200"/>
          </a:xfrm>
          <a:prstGeom prst="rect">
            <a:avLst/>
          </a:prstGeom>
          <a:noFill/>
        </p:spPr>
        <p:txBody>
          <a:bodyPr wrap="square">
            <a:spAutoFit/>
          </a:bodyPr>
          <a:lstStyle/>
          <a:p>
            <a:pPr algn="ctr"/>
            <a:r>
              <a:rPr sz="1400" b="0" i="0">
                <a:solidFill>
                  <a:srgbClr val="FFFFFF"/>
                </a:solidFill>
              </a:rPr>
              <a:t>Shreyas Ganesh   |   2026-04-13</a:t>
            </a:r>
          </a:p>
        </p:txBody>
      </p:sp>
      <p:sp>
        <p:nvSpPr>
          <p:cNvPr id="7" name="TextBox 6"/>
          <p:cNvSpPr txBox="1"/>
          <p:nvPr/>
        </p:nvSpPr>
        <p:spPr>
          <a:xfrm>
            <a:off x="502920" y="4297680"/>
            <a:ext cx="11185855" cy="411480"/>
          </a:xfrm>
          <a:prstGeom prst="rect">
            <a:avLst/>
          </a:prstGeom>
          <a:noFill/>
        </p:spPr>
        <p:txBody>
          <a:bodyPr wrap="square">
            <a:spAutoFit/>
          </a:bodyPr>
          <a:lstStyle/>
          <a:p>
            <a:pPr algn="ctr"/>
            <a:r>
              <a:rPr sz="1200" b="0" i="0">
                <a:solidFill>
                  <a:srgbClr val="CADCFC"/>
                </a:solidFill>
              </a:rPr>
              <a:t>Target: RE2   ·   Model: llama-3.1-8b-instruct (UF LiteLLM proxy)   ·   Spend: ~$0.01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The Research Question</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Does gap-targeted synthesis beat source-only, given a stable pipeline?</a:t>
            </a:r>
          </a:p>
        </p:txBody>
      </p:sp>
      <p:sp>
        <p:nvSpPr>
          <p:cNvPr id="5" name="Rectangle 4"/>
          <p:cNvSpPr/>
          <p:nvPr/>
        </p:nvSpPr>
        <p:spPr>
          <a:xfrm>
            <a:off x="502920" y="1051560"/>
            <a:ext cx="5455767"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61288"/>
            <a:ext cx="5181447" cy="411480"/>
          </a:xfrm>
          <a:prstGeom prst="rect">
            <a:avLst/>
          </a:prstGeom>
          <a:noFill/>
        </p:spPr>
        <p:txBody>
          <a:bodyPr wrap="square">
            <a:spAutoFit/>
          </a:bodyPr>
          <a:lstStyle/>
          <a:p>
            <a:pPr algn="l"/>
            <a:r>
              <a:rPr sz="1600" b="1" i="0">
                <a:solidFill>
                  <a:srgbClr val="FFFFFF"/>
                </a:solidFill>
              </a:rPr>
              <a:t>exp1  (gap-targeted)</a:t>
            </a:r>
          </a:p>
        </p:txBody>
      </p:sp>
      <p:sp>
        <p:nvSpPr>
          <p:cNvPr id="7" name="TextBox 6"/>
          <p:cNvSpPr txBox="1"/>
          <p:nvPr/>
        </p:nvSpPr>
        <p:spPr>
          <a:xfrm>
            <a:off x="640080" y="1600200"/>
            <a:ext cx="5181447" cy="502920"/>
          </a:xfrm>
          <a:prstGeom prst="rect">
            <a:avLst/>
          </a:prstGeom>
          <a:noFill/>
        </p:spPr>
        <p:txBody>
          <a:bodyPr wrap="square">
            <a:spAutoFit/>
          </a:bodyPr>
          <a:lstStyle/>
          <a:p>
            <a:pPr algn="l"/>
            <a:r>
              <a:rPr sz="1300" b="0" i="0">
                <a:solidFill>
                  <a:srgbClr val="CADCFC"/>
                </a:solidFill>
              </a:rPr>
              <a:t>prompt = harness + coverage gaps + upstream tests</a:t>
            </a:r>
          </a:p>
        </p:txBody>
      </p:sp>
      <p:sp>
        <p:nvSpPr>
          <p:cNvPr id="8" name="Rectangle 7"/>
          <p:cNvSpPr/>
          <p:nvPr/>
        </p:nvSpPr>
        <p:spPr>
          <a:xfrm>
            <a:off x="6233007" y="1051560"/>
            <a:ext cx="5455767" cy="1097280"/>
          </a:xfrm>
          <a:prstGeom prst="rect">
            <a:avLst/>
          </a:prstGeom>
          <a:solidFill>
            <a:srgbClr val="35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0167" y="1161288"/>
            <a:ext cx="5181447" cy="411480"/>
          </a:xfrm>
          <a:prstGeom prst="rect">
            <a:avLst/>
          </a:prstGeom>
          <a:noFill/>
        </p:spPr>
        <p:txBody>
          <a:bodyPr wrap="square">
            <a:spAutoFit/>
          </a:bodyPr>
          <a:lstStyle/>
          <a:p>
            <a:pPr algn="l"/>
            <a:r>
              <a:rPr sz="1600" b="1" i="0">
                <a:solidFill>
                  <a:srgbClr val="FFFFFF"/>
                </a:solidFill>
              </a:rPr>
              <a:t>exp2  (source-only)</a:t>
            </a:r>
          </a:p>
        </p:txBody>
      </p:sp>
      <p:sp>
        <p:nvSpPr>
          <p:cNvPr id="10" name="TextBox 9"/>
          <p:cNvSpPr txBox="1"/>
          <p:nvPr/>
        </p:nvSpPr>
        <p:spPr>
          <a:xfrm>
            <a:off x="6370167" y="1600200"/>
            <a:ext cx="5181447" cy="502920"/>
          </a:xfrm>
          <a:prstGeom prst="rect">
            <a:avLst/>
          </a:prstGeom>
          <a:noFill/>
        </p:spPr>
        <p:txBody>
          <a:bodyPr wrap="square">
            <a:spAutoFit/>
          </a:bodyPr>
          <a:lstStyle/>
          <a:p>
            <a:pPr algn="l"/>
            <a:r>
              <a:rPr sz="1300" b="0" i="0">
                <a:solidFill>
                  <a:srgbClr val="CADCFC"/>
                </a:solidFill>
              </a:rPr>
              <a:t>prompt = harness + library source code only
(no tests, no gaps)</a:t>
            </a:r>
          </a:p>
        </p:txBody>
      </p:sp>
      <p:sp>
        <p:nvSpPr>
          <p:cNvPr id="11" name="TextBox 10"/>
          <p:cNvSpPr txBox="1"/>
          <p:nvPr/>
        </p:nvSpPr>
        <p:spPr>
          <a:xfrm>
            <a:off x="502920" y="2331720"/>
            <a:ext cx="11185855" cy="228600"/>
          </a:xfrm>
          <a:prstGeom prst="rect">
            <a:avLst/>
          </a:prstGeom>
          <a:noFill/>
        </p:spPr>
        <p:txBody>
          <a:bodyPr wrap="square">
            <a:spAutoFit/>
          </a:bodyPr>
          <a:lstStyle/>
          <a:p>
            <a:pPr algn="l"/>
            <a:r>
              <a:rPr sz="1300" b="1" i="0">
                <a:solidFill>
                  <a:srgbClr val="1E2761"/>
                </a:solidFill>
              </a:rPr>
              <a:t>Shared conditions</a:t>
            </a:r>
          </a:p>
        </p:txBody>
      </p:sp>
      <p:sp>
        <p:nvSpPr>
          <p:cNvPr id="12" name="TextBox 11"/>
          <p:cNvSpPr txBox="1"/>
          <p:nvPr/>
        </p:nvSpPr>
        <p:spPr>
          <a:xfrm>
            <a:off x="502920" y="2606040"/>
            <a:ext cx="11185855" cy="3977640"/>
          </a:xfrm>
          <a:prstGeom prst="rect">
            <a:avLst/>
          </a:prstGeom>
          <a:noFill/>
        </p:spPr>
        <p:txBody>
          <a:bodyPr wrap="square">
            <a:spAutoFit/>
          </a:bodyPr>
          <a:lstStyle/>
          <a:p>
            <a:pPr>
              <a:spcBef>
                <a:spcPts val="400"/>
              </a:spcBef>
            </a:pPr>
            <a:r>
              <a:rPr sz="1300" b="0">
                <a:solidFill>
                  <a:srgbClr val="1A1A2E"/>
                </a:solidFill>
              </a:rPr>
              <a:t>•  3-test RE2 fixture  (Regexp.BigRef, NamedCaptures, CaptureNames)</a:t>
            </a:r>
          </a:p>
          <a:p>
            <a:pPr>
              <a:spcBef>
                <a:spcPts val="400"/>
              </a:spcBef>
            </a:pPr>
            <a:r>
              <a:rPr sz="1300" b="0">
                <a:solidFill>
                  <a:srgbClr val="1A1A2E"/>
                </a:solidFill>
              </a:rPr>
              <a:t>•  llama-3.1-8b-instruct  ·  3 samples per cell  ·  T=0.7  ·  top_p=0.95</a:t>
            </a:r>
          </a:p>
          <a:p>
            <a:pPr>
              <a:spcBef>
                <a:spcPts val="400"/>
              </a:spcBef>
            </a:pPr>
            <a:r>
              <a:rPr sz="1300" b="0">
                <a:solidFill>
                  <a:srgbClr val="1A1A2E"/>
                </a:solidFill>
              </a:rPr>
              <a:t>•  Evaluation: raw seed-corpus edge/line coverage via seed_replay binary + llvm-cov-15</a:t>
            </a:r>
          </a:p>
        </p:txBody>
      </p:sp>
      <p:sp>
        <p:nvSpPr>
          <p:cNvPr id="13" name="TextBox 12"/>
          <p:cNvSpPr txBox="1"/>
          <p:nvPr/>
        </p:nvSpPr>
        <p:spPr>
          <a:xfrm>
            <a:off x="502920" y="6217920"/>
            <a:ext cx="11185855" cy="320040"/>
          </a:xfrm>
          <a:prstGeom prst="rect">
            <a:avLst/>
          </a:prstGeom>
          <a:noFill/>
        </p:spPr>
        <p:txBody>
          <a:bodyPr wrap="square">
            <a:spAutoFit/>
          </a:bodyPr>
          <a:lstStyle/>
          <a:p>
            <a:pPr algn="l"/>
            <a:r>
              <a:rPr sz="1100" b="0" i="1">
                <a:solidFill>
                  <a:srgbClr val="556080"/>
                </a:solidFill>
              </a:rPr>
              <a:t>This deck measures seed-corpus quality directly — not a 24h libFuzzer campaign (needs cluster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Pipeline Shape</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exp1 and exp2 share everything but the prompt body</a:t>
            </a:r>
          </a:p>
        </p:txBody>
      </p:sp>
      <p:sp>
        <p:nvSpPr>
          <p:cNvPr id="5" name="Rectangle 4"/>
          <p:cNvSpPr/>
          <p:nvPr/>
        </p:nvSpPr>
        <p:spPr>
          <a:xfrm>
            <a:off x="502920" y="1051560"/>
            <a:ext cx="1188720" cy="89611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307592"/>
            <a:ext cx="1051560" cy="411480"/>
          </a:xfrm>
          <a:prstGeom prst="rect">
            <a:avLst/>
          </a:prstGeom>
          <a:noFill/>
        </p:spPr>
        <p:txBody>
          <a:bodyPr wrap="square">
            <a:spAutoFit/>
          </a:bodyPr>
          <a:lstStyle/>
          <a:p>
            <a:pPr algn="ctr"/>
            <a:r>
              <a:rPr sz="1300" b="1" i="0">
                <a:solidFill>
                  <a:srgbClr val="FFFFFF"/>
                </a:solidFill>
              </a:rPr>
              <a:t>Phase 1</a:t>
            </a:r>
          </a:p>
        </p:txBody>
      </p:sp>
      <p:sp>
        <p:nvSpPr>
          <p:cNvPr id="7" name="Rectangle 6"/>
          <p:cNvSpPr/>
          <p:nvPr/>
        </p:nvSpPr>
        <p:spPr>
          <a:xfrm>
            <a:off x="1691640" y="1463040"/>
            <a:ext cx="274320" cy="7315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7400" y="1161288"/>
            <a:ext cx="9448495" cy="694944"/>
          </a:xfrm>
          <a:prstGeom prst="rect">
            <a:avLst/>
          </a:prstGeom>
          <a:noFill/>
        </p:spPr>
        <p:txBody>
          <a:bodyPr wrap="square">
            <a:spAutoFit/>
          </a:bodyPr>
          <a:lstStyle/>
          <a:p>
            <a:pPr algn="l"/>
            <a:r>
              <a:rPr sz="1300" b="0" i="0">
                <a:solidFill>
                  <a:srgbClr val="1A1A2E"/>
                </a:solidFill>
              </a:rPr>
              <a:t>Build coverage-instrumented RE2 · extract upstream tests · compute per-test + union baseline coverage · emit coverage_gaps.json</a:t>
            </a:r>
          </a:p>
        </p:txBody>
      </p:sp>
      <p:sp>
        <p:nvSpPr>
          <p:cNvPr id="9" name="Rectangle 8"/>
          <p:cNvSpPr/>
          <p:nvPr/>
        </p:nvSpPr>
        <p:spPr>
          <a:xfrm>
            <a:off x="502920" y="2057400"/>
            <a:ext cx="1188720" cy="89611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2313432"/>
            <a:ext cx="1051560" cy="411480"/>
          </a:xfrm>
          <a:prstGeom prst="rect">
            <a:avLst/>
          </a:prstGeom>
          <a:noFill/>
        </p:spPr>
        <p:txBody>
          <a:bodyPr wrap="square">
            <a:spAutoFit/>
          </a:bodyPr>
          <a:lstStyle/>
          <a:p>
            <a:pPr algn="ctr"/>
            <a:r>
              <a:rPr sz="1300" b="1" i="0">
                <a:solidFill>
                  <a:srgbClr val="FFFFFF"/>
                </a:solidFill>
              </a:rPr>
              <a:t>Phase 2</a:t>
            </a:r>
          </a:p>
        </p:txBody>
      </p:sp>
      <p:sp>
        <p:nvSpPr>
          <p:cNvPr id="11" name="Rectangle 10"/>
          <p:cNvSpPr/>
          <p:nvPr/>
        </p:nvSpPr>
        <p:spPr>
          <a:xfrm>
            <a:off x="1691640" y="2468880"/>
            <a:ext cx="274320" cy="7315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57400" y="2167128"/>
            <a:ext cx="9448495" cy="694944"/>
          </a:xfrm>
          <a:prstGeom prst="rect">
            <a:avLst/>
          </a:prstGeom>
          <a:noFill/>
        </p:spPr>
        <p:txBody>
          <a:bodyPr wrap="square">
            <a:spAutoFit/>
          </a:bodyPr>
          <a:lstStyle/>
          <a:p>
            <a:pPr algn="l"/>
            <a:r>
              <a:rPr sz="1300" b="0" i="0">
                <a:solidFill>
                  <a:srgbClr val="1A1A2E"/>
                </a:solidFill>
              </a:rPr>
              <a:t>exp1 only: LLM predicts hard branches from test context (gap-targeted prompt)</a:t>
            </a:r>
          </a:p>
        </p:txBody>
      </p:sp>
      <p:sp>
        <p:nvSpPr>
          <p:cNvPr id="13" name="Rectangle 12"/>
          <p:cNvSpPr/>
          <p:nvPr/>
        </p:nvSpPr>
        <p:spPr>
          <a:xfrm>
            <a:off x="502920" y="3063240"/>
            <a:ext cx="1188720" cy="89611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3319272"/>
            <a:ext cx="1051560" cy="411480"/>
          </a:xfrm>
          <a:prstGeom prst="rect">
            <a:avLst/>
          </a:prstGeom>
          <a:noFill/>
        </p:spPr>
        <p:txBody>
          <a:bodyPr wrap="square">
            <a:spAutoFit/>
          </a:bodyPr>
          <a:lstStyle/>
          <a:p>
            <a:pPr algn="ctr"/>
            <a:r>
              <a:rPr sz="1300" b="1" i="0">
                <a:solidFill>
                  <a:srgbClr val="FFFFFF"/>
                </a:solidFill>
              </a:rPr>
              <a:t>Phase 3</a:t>
            </a:r>
          </a:p>
        </p:txBody>
      </p:sp>
      <p:sp>
        <p:nvSpPr>
          <p:cNvPr id="15" name="Rectangle 14"/>
          <p:cNvSpPr/>
          <p:nvPr/>
        </p:nvSpPr>
        <p:spPr>
          <a:xfrm>
            <a:off x="1691640" y="3474720"/>
            <a:ext cx="274320" cy="7315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3172968"/>
            <a:ext cx="9448495" cy="694944"/>
          </a:xfrm>
          <a:prstGeom prst="rect">
            <a:avLst/>
          </a:prstGeom>
          <a:noFill/>
        </p:spPr>
        <p:txBody>
          <a:bodyPr wrap="square">
            <a:spAutoFit/>
          </a:bodyPr>
          <a:lstStyle/>
          <a:p>
            <a:pPr algn="l"/>
            <a:r>
              <a:rPr sz="1300" b="0" i="0">
                <a:solidFill>
                  <a:srgbClr val="1A1A2E"/>
                </a:solidFill>
              </a:rPr>
              <a:t>LLM synthesises inputs (3 samples, T=0.7). Samples cache-salted so the 3 calls don't collide on prompt_hash.</a:t>
            </a:r>
          </a:p>
        </p:txBody>
      </p:sp>
      <p:sp>
        <p:nvSpPr>
          <p:cNvPr id="17" name="Rectangle 16"/>
          <p:cNvSpPr/>
          <p:nvPr/>
        </p:nvSpPr>
        <p:spPr>
          <a:xfrm>
            <a:off x="502920" y="4069080"/>
            <a:ext cx="1188720" cy="89611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4325112"/>
            <a:ext cx="1051560" cy="411480"/>
          </a:xfrm>
          <a:prstGeom prst="rect">
            <a:avLst/>
          </a:prstGeom>
          <a:noFill/>
        </p:spPr>
        <p:txBody>
          <a:bodyPr wrap="square">
            <a:spAutoFit/>
          </a:bodyPr>
          <a:lstStyle/>
          <a:p>
            <a:pPr algn="ctr"/>
            <a:r>
              <a:rPr sz="1300" b="1" i="0">
                <a:solidFill>
                  <a:srgbClr val="FFFFFF"/>
                </a:solidFill>
              </a:rPr>
              <a:t>Evaluate</a:t>
            </a:r>
          </a:p>
        </p:txBody>
      </p:sp>
      <p:sp>
        <p:nvSpPr>
          <p:cNvPr id="19" name="Rectangle 18"/>
          <p:cNvSpPr/>
          <p:nvPr/>
        </p:nvSpPr>
        <p:spPr>
          <a:xfrm>
            <a:off x="1691640" y="4480560"/>
            <a:ext cx="274320" cy="7315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57400" y="4178808"/>
            <a:ext cx="9448495" cy="694944"/>
          </a:xfrm>
          <a:prstGeom prst="rect">
            <a:avLst/>
          </a:prstGeom>
          <a:noFill/>
        </p:spPr>
        <p:txBody>
          <a:bodyPr wrap="square">
            <a:spAutoFit/>
          </a:bodyPr>
          <a:lstStyle/>
          <a:p>
            <a:pPr algn="l"/>
            <a:r>
              <a:rPr sz="1300" b="0" i="0">
                <a:solidFill>
                  <a:srgbClr val="1A1A2E"/>
                </a:solidFill>
              </a:rPr>
              <a:t>seed_replay + llvm-profdata + llvm-cov-15 export → CoverageProfile JSON → ab_coverage_diff → line/edge set-diff + Jaccard + per-file tables</a:t>
            </a:r>
          </a:p>
        </p:txBody>
      </p:sp>
      <p:sp>
        <p:nvSpPr>
          <p:cNvPr id="21" name="TextBox 20"/>
          <p:cNvSpPr txBox="1"/>
          <p:nvPr/>
        </p:nvSpPr>
        <p:spPr>
          <a:xfrm>
            <a:off x="502920" y="6355080"/>
            <a:ext cx="11185855" cy="292608"/>
          </a:xfrm>
          <a:prstGeom prst="rect">
            <a:avLst/>
          </a:prstGeom>
          <a:noFill/>
        </p:spPr>
        <p:txBody>
          <a:bodyPr wrap="square">
            <a:spAutoFit/>
          </a:bodyPr>
          <a:lstStyle/>
          <a:p>
            <a:pPr algn="l"/>
            <a:r>
              <a:rPr sz="1100" b="0" i="1">
                <a:solidFill>
                  <a:srgbClr val="556080"/>
                </a:solidFill>
              </a:rPr>
              <a:t>exp1 uses gap-targeted templates; exp2 uses source-only templates with an assert_no_tests guard on the rendered prompt.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Data Flow — One Synthesis Sample, End to End</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Same path for exp1, exp2, and every ablation cell; only the prompt body differs</a:t>
            </a:r>
          </a:p>
        </p:txBody>
      </p:sp>
      <p:sp>
        <p:nvSpPr>
          <p:cNvPr id="5" name="Rectangle 4"/>
          <p:cNvSpPr/>
          <p:nvPr/>
        </p:nvSpPr>
        <p:spPr>
          <a:xfrm>
            <a:off x="502920" y="1051560"/>
            <a:ext cx="1828800"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34440"/>
            <a:ext cx="1645920" cy="429768"/>
          </a:xfrm>
          <a:prstGeom prst="rect">
            <a:avLst/>
          </a:prstGeom>
          <a:noFill/>
        </p:spPr>
        <p:txBody>
          <a:bodyPr wrap="square">
            <a:spAutoFit/>
          </a:bodyPr>
          <a:lstStyle/>
          <a:p>
            <a:pPr algn="ctr"/>
            <a:r>
              <a:rPr sz="1300" b="1" i="0">
                <a:solidFill>
                  <a:srgbClr val="FFFFFF"/>
                </a:solidFill>
              </a:rPr>
              <a:t>Jinja Template</a:t>
            </a:r>
          </a:p>
        </p:txBody>
      </p:sp>
      <p:sp>
        <p:nvSpPr>
          <p:cNvPr id="7" name="Rectangle 6"/>
          <p:cNvSpPr/>
          <p:nvPr/>
        </p:nvSpPr>
        <p:spPr>
          <a:xfrm>
            <a:off x="1325880" y="1801368"/>
            <a:ext cx="182880" cy="914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14600" y="1143000"/>
            <a:ext cx="9082735" cy="585216"/>
          </a:xfrm>
          <a:prstGeom prst="rect">
            <a:avLst/>
          </a:prstGeom>
          <a:noFill/>
        </p:spPr>
        <p:txBody>
          <a:bodyPr wrap="square">
            <a:spAutoFit/>
          </a:bodyPr>
          <a:lstStyle/>
          <a:p>
            <a:pPr algn="l"/>
            <a:r>
              <a:rPr sz="1200" b="0" i="0">
                <a:solidFill>
                  <a:srgbClr val="1A1A2E"/>
                </a:solidFill>
              </a:rPr>
              <a:t>input_synthesis_regex.j2 | source_only_synthesis_regex.j2
Renders: {system, harness, [tests?], [gaps?], [source?], task}</a:t>
            </a:r>
          </a:p>
        </p:txBody>
      </p:sp>
      <p:sp>
        <p:nvSpPr>
          <p:cNvPr id="9" name="Rectangle 8"/>
          <p:cNvSpPr/>
          <p:nvPr/>
        </p:nvSpPr>
        <p:spPr>
          <a:xfrm>
            <a:off x="502920" y="1892808"/>
            <a:ext cx="1828800" cy="749808"/>
          </a:xfrm>
          <a:prstGeom prst="rect">
            <a:avLst/>
          </a:prstGeom>
          <a:solidFill>
            <a:srgbClr val="35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75688"/>
            <a:ext cx="1645920" cy="429768"/>
          </a:xfrm>
          <a:prstGeom prst="rect">
            <a:avLst/>
          </a:prstGeom>
          <a:noFill/>
        </p:spPr>
        <p:txBody>
          <a:bodyPr wrap="square">
            <a:spAutoFit/>
          </a:bodyPr>
          <a:lstStyle/>
          <a:p>
            <a:pPr algn="ctr"/>
            <a:r>
              <a:rPr sz="1300" b="1" i="0">
                <a:solidFill>
                  <a:srgbClr val="FFFFFF"/>
                </a:solidFill>
              </a:rPr>
              <a:t>LLM Call</a:t>
            </a:r>
          </a:p>
        </p:txBody>
      </p:sp>
      <p:sp>
        <p:nvSpPr>
          <p:cNvPr id="11" name="Rectangle 10"/>
          <p:cNvSpPr/>
          <p:nvPr/>
        </p:nvSpPr>
        <p:spPr>
          <a:xfrm>
            <a:off x="1325880" y="2642616"/>
            <a:ext cx="182880" cy="914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1984248"/>
            <a:ext cx="9082735" cy="585216"/>
          </a:xfrm>
          <a:prstGeom prst="rect">
            <a:avLst/>
          </a:prstGeom>
          <a:noFill/>
        </p:spPr>
        <p:txBody>
          <a:bodyPr wrap="square">
            <a:spAutoFit/>
          </a:bodyPr>
          <a:lstStyle/>
          <a:p>
            <a:pPr algn="l"/>
            <a:r>
              <a:rPr sz="1200" b="0" i="0">
                <a:solidFill>
                  <a:srgbClr val="1A1A2E"/>
                </a:solidFill>
              </a:rPr>
              <a:t>llama-3.1-8b-instruct  ·  T=0.7  top_p=0.95  ·  streaming + loop detector
cache key = (prompt_hash, max_tokens, cache_salt) → samples don't collide</a:t>
            </a:r>
          </a:p>
        </p:txBody>
      </p:sp>
      <p:sp>
        <p:nvSpPr>
          <p:cNvPr id="13" name="Rectangle 12"/>
          <p:cNvSpPr/>
          <p:nvPr/>
        </p:nvSpPr>
        <p:spPr>
          <a:xfrm>
            <a:off x="502920" y="2734056"/>
            <a:ext cx="1828800" cy="749808"/>
          </a:xfrm>
          <a:prstGeom prst="rect">
            <a:avLst/>
          </a:prstGeom>
          <a:solidFill>
            <a:srgbClr val="2A3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916936"/>
            <a:ext cx="1645920" cy="429768"/>
          </a:xfrm>
          <a:prstGeom prst="rect">
            <a:avLst/>
          </a:prstGeom>
          <a:noFill/>
        </p:spPr>
        <p:txBody>
          <a:bodyPr wrap="square">
            <a:spAutoFit/>
          </a:bodyPr>
          <a:lstStyle/>
          <a:p>
            <a:pPr algn="ctr"/>
            <a:r>
              <a:rPr sz="1300" b="1" i="0">
                <a:solidFill>
                  <a:srgbClr val="FFFFFF"/>
                </a:solidFill>
              </a:rPr>
              <a:t>Raw JSON</a:t>
            </a:r>
          </a:p>
        </p:txBody>
      </p:sp>
      <p:sp>
        <p:nvSpPr>
          <p:cNvPr id="15" name="Rectangle 14"/>
          <p:cNvSpPr/>
          <p:nvPr/>
        </p:nvSpPr>
        <p:spPr>
          <a:xfrm>
            <a:off x="1325880" y="3483864"/>
            <a:ext cx="182880" cy="914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2825496"/>
            <a:ext cx="9082735" cy="585216"/>
          </a:xfrm>
          <a:prstGeom prst="rect">
            <a:avLst/>
          </a:prstGeom>
          <a:noFill/>
        </p:spPr>
        <p:txBody>
          <a:bodyPr wrap="square">
            <a:spAutoFit/>
          </a:bodyPr>
          <a:lstStyle/>
          <a:p>
            <a:pPr algn="l"/>
            <a:r>
              <a:rPr sz="1200" b="0" i="0">
                <a:solidFill>
                  <a:srgbClr val="1A1A2E"/>
                </a:solidFill>
              </a:rPr>
              <a:t>{ "regexes": [ { "regex": "...", "target_gaps": [...], "reasoning": "..." } ] }
parse_regex_response() + _salvage_objects() (loop-abort recovery)</a:t>
            </a:r>
          </a:p>
        </p:txBody>
      </p:sp>
      <p:sp>
        <p:nvSpPr>
          <p:cNvPr id="17" name="Rectangle 16"/>
          <p:cNvSpPr/>
          <p:nvPr/>
        </p:nvSpPr>
        <p:spPr>
          <a:xfrm>
            <a:off x="502920" y="3575304"/>
            <a:ext cx="1828800" cy="749808"/>
          </a:xfrm>
          <a:prstGeom prst="rect">
            <a:avLst/>
          </a:prstGeom>
          <a:solidFill>
            <a:srgbClr val="35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758184"/>
            <a:ext cx="1645920" cy="429768"/>
          </a:xfrm>
          <a:prstGeom prst="rect">
            <a:avLst/>
          </a:prstGeom>
          <a:noFill/>
        </p:spPr>
        <p:txBody>
          <a:bodyPr wrap="square">
            <a:spAutoFit/>
          </a:bodyPr>
          <a:lstStyle/>
          <a:p>
            <a:pPr algn="ctr"/>
            <a:r>
              <a:rPr sz="1300" b="1" i="0">
                <a:solidFill>
                  <a:srgbClr val="FFFFFF"/>
                </a:solidFill>
              </a:rPr>
              <a:t>Seed Files</a:t>
            </a:r>
          </a:p>
        </p:txBody>
      </p:sp>
      <p:sp>
        <p:nvSpPr>
          <p:cNvPr id="19" name="Rectangle 18"/>
          <p:cNvSpPr/>
          <p:nvPr/>
        </p:nvSpPr>
        <p:spPr>
          <a:xfrm>
            <a:off x="1325880" y="4325112"/>
            <a:ext cx="182880" cy="914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3666744"/>
            <a:ext cx="9082735" cy="585216"/>
          </a:xfrm>
          <a:prstGeom prst="rect">
            <a:avLst/>
          </a:prstGeom>
          <a:noFill/>
        </p:spPr>
        <p:txBody>
          <a:bodyPr wrap="square">
            <a:spAutoFit/>
          </a:bodyPr>
          <a:lstStyle/>
          <a:p>
            <a:pPr algn="l"/>
            <a:r>
              <a:rPr sz="1200" b="0" i="0">
                <a:solidFill>
                  <a:srgbClr val="1A1A2E"/>
                </a:solidFill>
              </a:rPr>
              <a:t>Per entry: [2 sha256-seeded flag bytes] + [UTF-8 regex bytes]
clipped to [3, 64] bytes total · deduplicated</a:t>
            </a:r>
          </a:p>
        </p:txBody>
      </p:sp>
      <p:sp>
        <p:nvSpPr>
          <p:cNvPr id="21" name="Rectangle 20"/>
          <p:cNvSpPr/>
          <p:nvPr/>
        </p:nvSpPr>
        <p:spPr>
          <a:xfrm>
            <a:off x="502920" y="4416552"/>
            <a:ext cx="1828800" cy="749808"/>
          </a:xfrm>
          <a:prstGeom prst="rect">
            <a:avLst/>
          </a:prstGeom>
          <a:solidFill>
            <a:srgbClr val="2A3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599432"/>
            <a:ext cx="1645920" cy="429768"/>
          </a:xfrm>
          <a:prstGeom prst="rect">
            <a:avLst/>
          </a:prstGeom>
          <a:noFill/>
        </p:spPr>
        <p:txBody>
          <a:bodyPr wrap="square">
            <a:spAutoFit/>
          </a:bodyPr>
          <a:lstStyle/>
          <a:p>
            <a:pPr algn="ctr"/>
            <a:r>
              <a:rPr sz="1300" b="1" i="0">
                <a:solidFill>
                  <a:srgbClr val="FFFFFF"/>
                </a:solidFill>
              </a:rPr>
              <a:t>Coverage</a:t>
            </a:r>
          </a:p>
        </p:txBody>
      </p:sp>
      <p:sp>
        <p:nvSpPr>
          <p:cNvPr id="23" name="TextBox 22"/>
          <p:cNvSpPr txBox="1"/>
          <p:nvPr/>
        </p:nvSpPr>
        <p:spPr>
          <a:xfrm>
            <a:off x="2514600" y="4507992"/>
            <a:ext cx="9082735" cy="585216"/>
          </a:xfrm>
          <a:prstGeom prst="rect">
            <a:avLst/>
          </a:prstGeom>
          <a:noFill/>
        </p:spPr>
        <p:txBody>
          <a:bodyPr wrap="square">
            <a:spAutoFit/>
          </a:bodyPr>
          <a:lstStyle/>
          <a:p>
            <a:pPr algn="l"/>
            <a:r>
              <a:rPr sz="1200" b="0" i="0">
                <a:solidFill>
                  <a:srgbClr val="1A1A2E"/>
                </a:solidFill>
              </a:rPr>
              <a:t>seed_replay (instrumented RE2) → .profraw → CoverageProfile JSON
ab_coverage_diff.py → edge/line set-diff + Jaccard + per-file 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Road to the Real A/B — Stabilization &amp; First Bugs</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2026-04-12: 29 new unit tests, cache fixes, loop detector, and five pipeline bugs found</a:t>
            </a:r>
          </a:p>
        </p:txBody>
      </p:sp>
      <p:sp>
        <p:nvSpPr>
          <p:cNvPr id="5" name="TextBox 4"/>
          <p:cNvSpPr txBox="1"/>
          <p:nvPr/>
        </p:nvSpPr>
        <p:spPr>
          <a:xfrm>
            <a:off x="502920" y="1051560"/>
            <a:ext cx="11185855" cy="256032"/>
          </a:xfrm>
          <a:prstGeom prst="rect">
            <a:avLst/>
          </a:prstGeom>
          <a:noFill/>
        </p:spPr>
        <p:txBody>
          <a:bodyPr wrap="square">
            <a:spAutoFit/>
          </a:bodyPr>
          <a:lstStyle/>
          <a:p>
            <a:pPr algn="l"/>
            <a:r>
              <a:rPr sz="1400" b="1" i="0">
                <a:solidFill>
                  <a:srgbClr val="1E2761"/>
                </a:solidFill>
              </a:rPr>
              <a:t>Stabilization pass (landed 2026-04-12)</a:t>
            </a:r>
          </a:p>
        </p:txBody>
      </p:sp>
      <p:sp>
        <p:nvSpPr>
          <p:cNvPr id="6" name="TextBox 5"/>
          <p:cNvSpPr txBox="1"/>
          <p:nvPr/>
        </p:nvSpPr>
        <p:spPr>
          <a:xfrm>
            <a:off x="502920" y="1344168"/>
            <a:ext cx="6152220" cy="5239512"/>
          </a:xfrm>
          <a:prstGeom prst="rect">
            <a:avLst/>
          </a:prstGeom>
          <a:noFill/>
        </p:spPr>
        <p:txBody>
          <a:bodyPr wrap="square">
            <a:spAutoFit/>
          </a:bodyPr>
          <a:lstStyle/>
          <a:p>
            <a:pPr>
              <a:spcBef>
                <a:spcPts val="400"/>
              </a:spcBef>
            </a:pPr>
            <a:r>
              <a:rPr sz="1300" b="0">
                <a:solidFill>
                  <a:srgbClr val="1A1A2E"/>
                </a:solidFill>
              </a:rPr>
              <a:t>•  Cache key now includes max_tokens + cache_salt → 3-sample diversity is real</a:t>
            </a:r>
          </a:p>
          <a:p>
            <a:pPr>
              <a:spcBef>
                <a:spcPts val="400"/>
              </a:spcBef>
            </a:pPr>
            <a:r>
              <a:rPr sz="1300" b="0">
                <a:solidFill>
                  <a:srgbClr val="1A1A2E"/>
                </a:solidFill>
              </a:rPr>
              <a:t>•  Streaming loop-detector: two signals (window dominance + unique-window ratio)</a:t>
            </a:r>
          </a:p>
          <a:p>
            <a:pPr>
              <a:spcBef>
                <a:spcPts val="400"/>
              </a:spcBef>
            </a:pPr>
            <a:r>
              <a:rPr sz="1300" b="0">
                <a:solidFill>
                  <a:srgbClr val="1A1A2E"/>
                </a:solidFill>
              </a:rPr>
              <a:t>•  5 prompt templates rewritten with real example values + OUTPUT RULES</a:t>
            </a:r>
          </a:p>
          <a:p>
            <a:pPr>
              <a:spcBef>
                <a:spcPts val="400"/>
              </a:spcBef>
            </a:pPr>
            <a:r>
              <a:rPr sz="1300" b="0">
                <a:solidFill>
                  <a:srgbClr val="1A1A2E"/>
                </a:solidFill>
              </a:rPr>
              <a:t>•  strict=False cache read + extra='ignore' on PredictionResult</a:t>
            </a:r>
          </a:p>
          <a:p>
            <a:pPr>
              <a:spcBef>
                <a:spcPts val="400"/>
              </a:spcBef>
            </a:pPr>
            <a:r>
              <a:rPr sz="1300" b="0">
                <a:solidFill>
                  <a:srgbClr val="1A1A2E"/>
                </a:solidFill>
              </a:rPr>
              <a:t>•  29 new unit tests; full suite 106+ green — 4-cell sanity run in ~3 min / ~$0.02</a:t>
            </a:r>
          </a:p>
        </p:txBody>
      </p:sp>
      <p:sp>
        <p:nvSpPr>
          <p:cNvPr id="7" name="TextBox 6"/>
          <p:cNvSpPr txBox="1"/>
          <p:nvPr/>
        </p:nvSpPr>
        <p:spPr>
          <a:xfrm>
            <a:off x="6990715" y="1051560"/>
            <a:ext cx="4698059" cy="256032"/>
          </a:xfrm>
          <a:prstGeom prst="rect">
            <a:avLst/>
          </a:prstGeom>
          <a:noFill/>
        </p:spPr>
        <p:txBody>
          <a:bodyPr wrap="square">
            <a:spAutoFit/>
          </a:bodyPr>
          <a:lstStyle/>
          <a:p>
            <a:pPr algn="l"/>
            <a:r>
              <a:rPr sz="1400" b="1" i="0">
                <a:solidFill>
                  <a:srgbClr val="1E2761"/>
                </a:solidFill>
              </a:rPr>
              <a:t>5 bugs surfaced by first A/B</a:t>
            </a:r>
          </a:p>
        </p:txBody>
      </p:sp>
      <p:sp>
        <p:nvSpPr>
          <p:cNvPr id="8" name="TextBox 7"/>
          <p:cNvSpPr txBox="1"/>
          <p:nvPr/>
        </p:nvSpPr>
        <p:spPr>
          <a:xfrm>
            <a:off x="6990715" y="1344168"/>
            <a:ext cx="4698059" cy="5239512"/>
          </a:xfrm>
          <a:prstGeom prst="rect">
            <a:avLst/>
          </a:prstGeom>
          <a:noFill/>
        </p:spPr>
        <p:txBody>
          <a:bodyPr wrap="square">
            <a:spAutoFit/>
          </a:bodyPr>
          <a:lstStyle/>
          <a:p>
            <a:pPr>
              <a:spcBef>
                <a:spcPts val="400"/>
              </a:spcBef>
            </a:pPr>
            <a:r>
              <a:rPr sz="1200" b="0">
                <a:solidFill>
                  <a:srgbClr val="1A1A2E"/>
                </a:solidFill>
              </a:rPr>
              <a:t>•  Fixture pointed at re2_test.cc; only regexp_test was built → swapped fixture</a:t>
            </a:r>
          </a:p>
          <a:p>
            <a:pPr>
              <a:spcBef>
                <a:spcPts val="400"/>
              </a:spcBef>
            </a:pPr>
            <a:r>
              <a:rPr sz="1200" b="0">
                <a:solidFill>
                  <a:srgbClr val="1A1A2E"/>
                </a:solidFill>
              </a:rPr>
              <a:t>•  RE2 util/test.h ignores --gtest_filter; treat fixture as combined-test baseline</a:t>
            </a:r>
          </a:p>
          <a:p>
            <a:pPr>
              <a:spcBef>
                <a:spcPts val="400"/>
              </a:spcBef>
            </a:pPr>
            <a:r>
              <a:rPr sz="1200" b="0">
                <a:solidFill>
                  <a:srgbClr val="1A1A2E"/>
                </a:solidFill>
              </a:rPr>
              <a:t>•  CoverageProfile JSON round-trip: writer used field names, reader needed aliases → populate_by_name=True</a:t>
            </a:r>
          </a:p>
          <a:p>
            <a:pPr>
              <a:spcBef>
                <a:spcPts val="400"/>
              </a:spcBef>
            </a:pPr>
            <a:r>
              <a:rPr sz="1200" b="0">
                <a:solidFill>
                  <a:srgbClr val="1A1A2E"/>
                </a:solidFill>
              </a:rPr>
              <a:t>•  llvm-cov-15 rejected --format=json (it's the default) → flag dropped</a:t>
            </a:r>
          </a:p>
          <a:p>
            <a:pPr>
              <a:spcBef>
                <a:spcPts val="400"/>
              </a:spcBef>
            </a:pPr>
            <a:r>
              <a:rPr sz="1200" b="0">
                <a:solidFill>
                  <a:srgbClr val="1A1A2E"/>
                </a:solidFill>
              </a:rPr>
              <a:t>•  Loop-aborted samples produced 0 seeds → _salvage_objects() brace-matching scan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First A/B Result — Bytes-Format Prompt (2026-04-12)</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Prompts asked for base64-encoded bytes; parser decoded straight to seed files</a:t>
            </a:r>
          </a:p>
        </p:txBody>
      </p:sp>
      <p:graphicFrame>
        <p:nvGraphicFramePr>
          <p:cNvPr id="5" name="Table 4"/>
          <p:cNvGraphicFramePr>
            <a:graphicFrameLocks noGrp="1"/>
          </p:cNvGraphicFramePr>
          <p:nvPr/>
        </p:nvGraphicFramePr>
        <p:xfrm>
          <a:off x="502920" y="1051560"/>
          <a:ext cx="9784080" cy="2688336"/>
        </p:xfrm>
        <a:graphic>
          <a:graphicData uri="http://schemas.openxmlformats.org/drawingml/2006/table">
            <a:tbl>
              <a:tblPr firstRow="1" bandRow="1">
                <a:tableStyleId>{5C22544A-7EE6-4342-B048-85BDC9FD1C3A}</a:tableStyleId>
              </a:tblPr>
              <a:tblGrid>
                <a:gridCol w="3200400"/>
                <a:gridCol w="1645920"/>
                <a:gridCol w="1645920"/>
                <a:gridCol w="1645920"/>
                <a:gridCol w="1645920"/>
              </a:tblGrid>
              <a:tr h="384048">
                <a:tc>
                  <a:txBody>
                    <a:bodyPr wrap="square"/>
                    <a:lstStyle/>
                    <a:p>
                      <a:pPr algn="l"/>
                      <a:r>
                        <a:rPr sz="1100" b="1">
                          <a:solidFill>
                            <a:srgbClr val="FFFFFF"/>
                          </a:solidFill>
                        </a:rPr>
                        <a:t>metric</a:t>
                      </a:r>
                    </a:p>
                  </a:txBody>
                  <a:tcPr>
                    <a:solidFill>
                      <a:srgbClr val="354A9E"/>
                    </a:solidFill>
                  </a:tcPr>
                </a:tc>
                <a:tc>
                  <a:txBody>
                    <a:bodyPr wrap="square"/>
                    <a:lstStyle/>
                    <a:p>
                      <a:pPr algn="ctr"/>
                      <a:r>
                        <a:rPr sz="1100" b="1">
                          <a:solidFill>
                            <a:srgbClr val="FFFFFF"/>
                          </a:solidFill>
                        </a:rPr>
                        <a:t>exp1 (gap)</a:t>
                      </a:r>
                    </a:p>
                  </a:txBody>
                  <a:tcPr>
                    <a:solidFill>
                      <a:srgbClr val="354A9E"/>
                    </a:solidFill>
                  </a:tcPr>
                </a:tc>
                <a:tc>
                  <a:txBody>
                    <a:bodyPr wrap="square"/>
                    <a:lstStyle/>
                    <a:p>
                      <a:pPr algn="ctr"/>
                      <a:r>
                        <a:rPr sz="1100" b="1">
                          <a:solidFill>
                            <a:srgbClr val="FFFFFF"/>
                          </a:solidFill>
                        </a:rPr>
                        <a:t>exp2 (source)</a:t>
                      </a:r>
                    </a:p>
                  </a:txBody>
                  <a:tcPr>
                    <a:solidFill>
                      <a:srgbClr val="354A9E"/>
                    </a:solidFill>
                  </a:tcPr>
                </a:tc>
                <a:tc>
                  <a:txBody>
                    <a:bodyPr wrap="square"/>
                    <a:lstStyle/>
                    <a:p>
                      <a:pPr algn="ctr"/>
                      <a:r>
                        <a:rPr sz="1100" b="1">
                          <a:solidFill>
                            <a:srgbClr val="FFFFFF"/>
                          </a:solidFill>
                        </a:rPr>
                        <a:t>union</a:t>
                      </a:r>
                    </a:p>
                  </a:txBody>
                  <a:tcPr>
                    <a:solidFill>
                      <a:srgbClr val="354A9E"/>
                    </a:solidFill>
                  </a:tcPr>
                </a:tc>
                <a:tc>
                  <a:txBody>
                    <a:bodyPr wrap="square"/>
                    <a:lstStyle/>
                    <a:p>
                      <a:pPr algn="ctr"/>
                      <a:r>
                        <a:rPr sz="1100" b="1">
                          <a:solidFill>
                            <a:srgbClr val="FFFFFF"/>
                          </a:solidFill>
                        </a:rPr>
                        <a:t>intersection</a:t>
                      </a:r>
                    </a:p>
                  </a:txBody>
                  <a:tcPr>
                    <a:solidFill>
                      <a:srgbClr val="354A9E"/>
                    </a:solidFill>
                  </a:tcPr>
                </a:tc>
              </a:tr>
              <a:tr h="384048">
                <a:tc>
                  <a:txBody>
                    <a:bodyPr wrap="square"/>
                    <a:lstStyle/>
                    <a:p>
                      <a:pPr algn="l"/>
                      <a:r>
                        <a:rPr sz="1100" b="0">
                          <a:solidFill>
                            <a:srgbClr val="1A1A2E"/>
                          </a:solidFill>
                        </a:rPr>
                        <a:t>seeds produced</a:t>
                      </a:r>
                    </a:p>
                  </a:txBody>
                  <a:tcPr/>
                </a:tc>
                <a:tc>
                  <a:txBody>
                    <a:bodyPr wrap="square"/>
                    <a:lstStyle/>
                    <a:p>
                      <a:pPr algn="ctr"/>
                      <a:r>
                        <a:rPr sz="1100" b="0">
                          <a:solidFill>
                            <a:srgbClr val="1A1A2E"/>
                          </a:solidFill>
                        </a:rPr>
                        <a:t>5</a:t>
                      </a:r>
                    </a:p>
                  </a:txBody>
                  <a:tcPr/>
                </a:tc>
                <a:tc>
                  <a:txBody>
                    <a:bodyPr wrap="square"/>
                    <a:lstStyle/>
                    <a:p>
                      <a:pPr algn="ctr"/>
                      <a:r>
                        <a:rPr sz="1100" b="0">
                          <a:solidFill>
                            <a:srgbClr val="1A1A2E"/>
                          </a:solidFill>
                        </a:rPr>
                        <a:t>10</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r>
              <a:tr h="384048">
                <a:tc>
                  <a:txBody>
                    <a:bodyPr wrap="square"/>
                    <a:lstStyle/>
                    <a:p>
                      <a:pPr algn="l"/>
                      <a:r>
                        <a:rPr sz="1100" b="0">
                          <a:solidFill>
                            <a:srgbClr val="1A1A2E"/>
                          </a:solidFill>
                        </a:rPr>
                        <a:t>loop-aborted samples</a:t>
                      </a:r>
                    </a:p>
                  </a:txBody>
                  <a:tcPr>
                    <a:solidFill>
                      <a:srgbClr val="EEF2FF"/>
                    </a:solidFill>
                  </a:tcPr>
                </a:tc>
                <a:tc>
                  <a:txBody>
                    <a:bodyPr wrap="square"/>
                    <a:lstStyle/>
                    <a:p>
                      <a:pPr algn="ctr"/>
                      <a:r>
                        <a:rPr sz="1100" b="0">
                          <a:solidFill>
                            <a:srgbClr val="1A1A2E"/>
                          </a:solidFill>
                        </a:rPr>
                        <a:t>3/3</a:t>
                      </a:r>
                    </a:p>
                  </a:txBody>
                  <a:tcPr>
                    <a:solidFill>
                      <a:srgbClr val="EEF2FF"/>
                    </a:solidFill>
                  </a:tcPr>
                </a:tc>
                <a:tc>
                  <a:txBody>
                    <a:bodyPr wrap="square"/>
                    <a:lstStyle/>
                    <a:p>
                      <a:pPr algn="ctr"/>
                      <a:r>
                        <a:rPr sz="1100" b="0">
                          <a:solidFill>
                            <a:srgbClr val="1A1A2E"/>
                          </a:solidFill>
                        </a:rPr>
                        <a:t>2/3</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r>
              <a:tr h="384048">
                <a:tc>
                  <a:txBody>
                    <a:bodyPr wrap="square"/>
                    <a:lstStyle/>
                    <a:p>
                      <a:pPr algn="l"/>
                      <a:r>
                        <a:rPr sz="1100" b="0">
                          <a:solidFill>
                            <a:srgbClr val="1A1A2E"/>
                          </a:solidFill>
                        </a:rPr>
                        <a:t>edges covered</a:t>
                      </a:r>
                    </a:p>
                  </a:txBody>
                  <a:tcPr/>
                </a:tc>
                <a:tc>
                  <a:txBody>
                    <a:bodyPr wrap="square"/>
                    <a:lstStyle/>
                    <a:p>
                      <a:pPr algn="ctr"/>
                      <a:r>
                        <a:rPr sz="1100" b="0">
                          <a:solidFill>
                            <a:srgbClr val="1A1A2E"/>
                          </a:solidFill>
                        </a:rPr>
                        <a:t>475</a:t>
                      </a:r>
                    </a:p>
                  </a:txBody>
                  <a:tcPr/>
                </a:tc>
                <a:tc>
                  <a:txBody>
                    <a:bodyPr wrap="square"/>
                    <a:lstStyle/>
                    <a:p>
                      <a:pPr algn="ctr"/>
                      <a:r>
                        <a:rPr sz="1100" b="0">
                          <a:solidFill>
                            <a:srgbClr val="1A1A2E"/>
                          </a:solidFill>
                        </a:rPr>
                        <a:t>513</a:t>
                      </a:r>
                    </a:p>
                  </a:txBody>
                  <a:tcPr/>
                </a:tc>
                <a:tc>
                  <a:txBody>
                    <a:bodyPr wrap="square"/>
                    <a:lstStyle/>
                    <a:p>
                      <a:pPr algn="ctr"/>
                      <a:r>
                        <a:rPr sz="1100" b="0">
                          <a:solidFill>
                            <a:srgbClr val="1A1A2E"/>
                          </a:solidFill>
                        </a:rPr>
                        <a:t>530</a:t>
                      </a:r>
                    </a:p>
                  </a:txBody>
                  <a:tcPr/>
                </a:tc>
                <a:tc>
                  <a:txBody>
                    <a:bodyPr wrap="square"/>
                    <a:lstStyle/>
                    <a:p>
                      <a:pPr algn="ctr"/>
                      <a:r>
                        <a:rPr sz="1100" b="0">
                          <a:solidFill>
                            <a:srgbClr val="1A1A2E"/>
                          </a:solidFill>
                        </a:rPr>
                        <a:t>458</a:t>
                      </a:r>
                    </a:p>
                  </a:txBody>
                  <a:tcPr/>
                </a:tc>
              </a:tr>
              <a:tr h="384048">
                <a:tc>
                  <a:txBody>
                    <a:bodyPr wrap="square"/>
                    <a:lstStyle/>
                    <a:p>
                      <a:pPr algn="l"/>
                      <a:r>
                        <a:rPr sz="1100" b="0">
                          <a:solidFill>
                            <a:srgbClr val="1A1A2E"/>
                          </a:solidFill>
                        </a:rPr>
                        <a:t>lines covered</a:t>
                      </a:r>
                    </a:p>
                  </a:txBody>
                  <a:tcPr>
                    <a:solidFill>
                      <a:srgbClr val="EEF2FF"/>
                    </a:solidFill>
                  </a:tcPr>
                </a:tc>
                <a:tc>
                  <a:txBody>
                    <a:bodyPr wrap="square"/>
                    <a:lstStyle/>
                    <a:p>
                      <a:pPr algn="ctr"/>
                      <a:r>
                        <a:rPr sz="1100" b="0">
                          <a:solidFill>
                            <a:srgbClr val="1A1A2E"/>
                          </a:solidFill>
                        </a:rPr>
                        <a:t>1243</a:t>
                      </a:r>
                    </a:p>
                  </a:txBody>
                  <a:tcPr>
                    <a:solidFill>
                      <a:srgbClr val="EEF2FF"/>
                    </a:solidFill>
                  </a:tcPr>
                </a:tc>
                <a:tc>
                  <a:txBody>
                    <a:bodyPr wrap="square"/>
                    <a:lstStyle/>
                    <a:p>
                      <a:pPr algn="ctr"/>
                      <a:r>
                        <a:rPr sz="1100" b="0">
                          <a:solidFill>
                            <a:srgbClr val="1A1A2E"/>
                          </a:solidFill>
                        </a:rPr>
                        <a:t>1314</a:t>
                      </a:r>
                    </a:p>
                  </a:txBody>
                  <a:tcPr>
                    <a:solidFill>
                      <a:srgbClr val="EEF2FF"/>
                    </a:solidFill>
                  </a:tcPr>
                </a:tc>
                <a:tc>
                  <a:txBody>
                    <a:bodyPr wrap="square"/>
                    <a:lstStyle/>
                    <a:p>
                      <a:pPr algn="ctr"/>
                      <a:r>
                        <a:rPr sz="1100" b="0">
                          <a:solidFill>
                            <a:srgbClr val="1A1A2E"/>
                          </a:solidFill>
                        </a:rPr>
                        <a:t>1337</a:t>
                      </a:r>
                    </a:p>
                  </a:txBody>
                  <a:tcPr>
                    <a:solidFill>
                      <a:srgbClr val="EEF2FF"/>
                    </a:solidFill>
                  </a:tcPr>
                </a:tc>
                <a:tc>
                  <a:txBody>
                    <a:bodyPr wrap="square"/>
                    <a:lstStyle/>
                    <a:p>
                      <a:pPr algn="ctr"/>
                      <a:r>
                        <a:rPr sz="1100" b="0">
                          <a:solidFill>
                            <a:srgbClr val="1A1A2E"/>
                          </a:solidFill>
                        </a:rPr>
                        <a:t>1220</a:t>
                      </a:r>
                    </a:p>
                  </a:txBody>
                  <a:tcPr>
                    <a:solidFill>
                      <a:srgbClr val="EEF2FF"/>
                    </a:solidFill>
                  </a:tcPr>
                </a:tc>
              </a:tr>
              <a:tr h="384048">
                <a:tc>
                  <a:txBody>
                    <a:bodyPr wrap="square"/>
                    <a:lstStyle/>
                    <a:p>
                      <a:pPr algn="l"/>
                      <a:r>
                        <a:rPr sz="1100" b="0">
                          <a:solidFill>
                            <a:srgbClr val="1A1A2E"/>
                          </a:solidFill>
                        </a:rPr>
                        <a:t>edges ONLY in this cell</a:t>
                      </a:r>
                    </a:p>
                  </a:txBody>
                  <a:tcPr/>
                </a:tc>
                <a:tc>
                  <a:txBody>
                    <a:bodyPr wrap="square"/>
                    <a:lstStyle/>
                    <a:p>
                      <a:pPr algn="ctr"/>
                      <a:r>
                        <a:rPr sz="1100" b="0">
                          <a:solidFill>
                            <a:srgbClr val="1A1A2E"/>
                          </a:solidFill>
                        </a:rPr>
                        <a:t>17</a:t>
                      </a:r>
                    </a:p>
                  </a:txBody>
                  <a:tcPr/>
                </a:tc>
                <a:tc>
                  <a:txBody>
                    <a:bodyPr wrap="square"/>
                    <a:lstStyle/>
                    <a:p>
                      <a:pPr algn="ctr"/>
                      <a:r>
                        <a:rPr sz="1100" b="0">
                          <a:solidFill>
                            <a:srgbClr val="1A1A2E"/>
                          </a:solidFill>
                        </a:rPr>
                        <a:t>55</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r>
              <a:tr h="384048">
                <a:tc>
                  <a:txBody>
                    <a:bodyPr wrap="square"/>
                    <a:lstStyle/>
                    <a:p>
                      <a:pPr algn="l"/>
                      <a:r>
                        <a:rPr sz="1100" b="0">
                          <a:solidFill>
                            <a:srgbClr val="1A1A2E"/>
                          </a:solidFill>
                        </a:rPr>
                        <a:t>Jaccard (edges)</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0.864</a:t>
                      </a:r>
                    </a:p>
                  </a:txBody>
                  <a:tcPr>
                    <a:solidFill>
                      <a:srgbClr val="EEF2FF"/>
                    </a:solidFill>
                  </a:tcPr>
                </a:tc>
                <a:tc>
                  <a:txBody>
                    <a:bodyPr wrap="square"/>
                    <a:lstStyle/>
                    <a:p>
                      <a:pPr algn="ctr"/>
                      <a:r>
                        <a:rPr sz="1100" b="0">
                          <a:solidFill>
                            <a:srgbClr val="1A1A2E"/>
                          </a:solidFill>
                        </a:rPr>
                        <a:t>—</a:t>
                      </a:r>
                    </a:p>
                  </a:txBody>
                  <a:tcPr>
                    <a:solidFill>
                      <a:srgbClr val="EEF2FF"/>
                    </a:solidFill>
                  </a:tcPr>
                </a:tc>
              </a:tr>
            </a:tbl>
          </a:graphicData>
        </a:graphic>
      </p:graphicFrame>
      <p:sp>
        <p:nvSpPr>
          <p:cNvPr id="6" name="TextBox 5"/>
          <p:cNvSpPr txBox="1"/>
          <p:nvPr/>
        </p:nvSpPr>
        <p:spPr>
          <a:xfrm>
            <a:off x="502920" y="4014216"/>
            <a:ext cx="11185855" cy="274320"/>
          </a:xfrm>
          <a:prstGeom prst="rect">
            <a:avLst/>
          </a:prstGeom>
          <a:noFill/>
        </p:spPr>
        <p:txBody>
          <a:bodyPr wrap="square">
            <a:spAutoFit/>
          </a:bodyPr>
          <a:lstStyle/>
          <a:p>
            <a:pPr algn="l"/>
            <a:r>
              <a:rPr sz="1400" b="1" i="0">
                <a:solidFill>
                  <a:srgbClr val="1E2761"/>
                </a:solidFill>
              </a:rPr>
              <a:t>Headline: "exp2 wins, 513 &gt; 475" — but this conclusion was premature.</a:t>
            </a:r>
          </a:p>
        </p:txBody>
      </p:sp>
      <p:sp>
        <p:nvSpPr>
          <p:cNvPr id="7" name="TextBox 6"/>
          <p:cNvSpPr txBox="1"/>
          <p:nvPr/>
        </p:nvSpPr>
        <p:spPr>
          <a:xfrm>
            <a:off x="502920" y="4334256"/>
            <a:ext cx="11185855" cy="274320"/>
          </a:xfrm>
          <a:prstGeom prst="rect">
            <a:avLst/>
          </a:prstGeom>
          <a:noFill/>
        </p:spPr>
        <p:txBody>
          <a:bodyPr wrap="square">
            <a:spAutoFit/>
          </a:bodyPr>
          <a:lstStyle/>
          <a:p>
            <a:pPr algn="l"/>
            <a:r>
              <a:rPr sz="1300" b="0" i="0">
                <a:solidFill>
                  <a:srgbClr val="B01C1C"/>
                </a:solidFill>
              </a:rPr>
              <a:t>Caveat: seed-count asymmetry (5 vs 10 after salvage) + 5 of 6 synthesis samples loop-aborted.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Why Bytes-Format Was a Bad Fit</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RE2 harness layout vs. what the prompt was asking for</a:t>
            </a:r>
          </a:p>
        </p:txBody>
      </p:sp>
      <p:sp>
        <p:nvSpPr>
          <p:cNvPr id="5" name="Rectangle 4"/>
          <p:cNvSpPr/>
          <p:nvPr/>
        </p:nvSpPr>
        <p:spPr>
          <a:xfrm>
            <a:off x="502920" y="1051560"/>
            <a:ext cx="5455767" cy="2011680"/>
          </a:xfrm>
          <a:prstGeom prst="rect">
            <a:avLst/>
          </a:prstGeom>
          <a:solidFill>
            <a:srgbClr val="F0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24712"/>
            <a:ext cx="5272887" cy="1828800"/>
          </a:xfrm>
          <a:prstGeom prst="rect">
            <a:avLst/>
          </a:prstGeom>
          <a:noFill/>
        </p:spPr>
        <p:txBody>
          <a:bodyPr wrap="square">
            <a:spAutoFit/>
          </a:bodyPr>
          <a:lstStyle/>
          <a:p>
            <a:pPr algn="l"/>
            <a:r>
              <a:rPr sz="1100" b="0" i="0">
                <a:solidFill>
                  <a:srgbClr val="1A1A2E"/>
                </a:solidFill>
              </a:rPr>
              <a:t>if (size &lt; 3 || size &gt; 64) return 0;
uint8_t flag_bytes[2] = { data[0], data[1] };
std::string pattern(data + 2, size - 2);
RE2::Compile(pattern, flags_from(flag_bytes));</a:t>
            </a:r>
          </a:p>
        </p:txBody>
      </p:sp>
      <p:sp>
        <p:nvSpPr>
          <p:cNvPr id="7" name="TextBox 6"/>
          <p:cNvSpPr txBox="1"/>
          <p:nvPr/>
        </p:nvSpPr>
        <p:spPr>
          <a:xfrm>
            <a:off x="502920" y="3108960"/>
            <a:ext cx="5455767" cy="274320"/>
          </a:xfrm>
          <a:prstGeom prst="rect">
            <a:avLst/>
          </a:prstGeom>
          <a:noFill/>
        </p:spPr>
        <p:txBody>
          <a:bodyPr wrap="square">
            <a:spAutoFit/>
          </a:bodyPr>
          <a:lstStyle/>
          <a:p>
            <a:pPr algn="l"/>
            <a:r>
              <a:rPr sz="1200" b="1" i="0">
                <a:solidFill>
                  <a:srgbClr val="1E2761"/>
                </a:solidFill>
              </a:rPr>
              <a:t>Harness expects:  [2 flag bytes] [UTF-8 regex string]</a:t>
            </a:r>
          </a:p>
        </p:txBody>
      </p:sp>
      <p:sp>
        <p:nvSpPr>
          <p:cNvPr id="8" name="TextBox 7"/>
          <p:cNvSpPr txBox="1"/>
          <p:nvPr/>
        </p:nvSpPr>
        <p:spPr>
          <a:xfrm>
            <a:off x="6233007" y="1051560"/>
            <a:ext cx="5455767" cy="5532120"/>
          </a:xfrm>
          <a:prstGeom prst="rect">
            <a:avLst/>
          </a:prstGeom>
          <a:noFill/>
        </p:spPr>
        <p:txBody>
          <a:bodyPr wrap="square">
            <a:spAutoFit/>
          </a:bodyPr>
          <a:lstStyle/>
          <a:p>
            <a:pPr>
              <a:spcBef>
                <a:spcPts val="400"/>
              </a:spcBef>
            </a:pPr>
            <a:r>
              <a:rPr sz="1300" b="0">
                <a:solidFill>
                  <a:srgbClr val="1A1A2E"/>
                </a:solidFill>
              </a:rPr>
              <a:t>•  We asked the LLM for arbitrary base64 bytes and hoped they'd look like a valid regex.</a:t>
            </a:r>
          </a:p>
          <a:p>
            <a:pPr>
              <a:spcBef>
                <a:spcPts val="400"/>
              </a:spcBef>
            </a:pPr>
            <a:r>
              <a:rPr sz="1300" b="0">
                <a:solidFill>
                  <a:srgbClr val="1A1A2E"/>
                </a:solidFill>
              </a:rPr>
              <a:t>•  For a frontier model: maybe. For llama-3.1-8b: the model emits 100× copies of the same 48-byte placeholder until the loop detector fires.</a:t>
            </a:r>
          </a:p>
          <a:p>
            <a:pPr>
              <a:spcBef>
                <a:spcPts val="400"/>
              </a:spcBef>
            </a:pPr>
            <a:r>
              <a:rPr sz="1300" b="0">
                <a:solidFill>
                  <a:srgbClr val="1A1A2E"/>
                </a:solidFill>
              </a:rPr>
              <a:t>•  The "loop-rate" was primarily prompt/target mismatch — not model capability.</a:t>
            </a:r>
          </a:p>
          <a:p>
            <a:pPr>
              <a:spcBef>
                <a:spcPts val="400"/>
              </a:spcBef>
            </a:pPr>
            <a:r>
              <a:rPr sz="1300" b="0">
                <a:solidFill>
                  <a:srgbClr val="1A1A2E"/>
                </a:solidFill>
              </a:rPr>
              <a:t>•  Fix: tell the model to emit regex text directly; tooling prepends the 2 flag bytes deterministically.</a:t>
            </a:r>
          </a:p>
        </p:txBody>
      </p:sp>
      <p:sp>
        <p:nvSpPr>
          <p:cNvPr id="9" name="Rectangle 8"/>
          <p:cNvSpPr/>
          <p:nvPr/>
        </p:nvSpPr>
        <p:spPr>
          <a:xfrm>
            <a:off x="502920" y="5989320"/>
            <a:ext cx="11185855" cy="5943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053328"/>
            <a:ext cx="10911535" cy="502920"/>
          </a:xfrm>
          <a:prstGeom prst="rect">
            <a:avLst/>
          </a:prstGeom>
          <a:noFill/>
        </p:spPr>
        <p:txBody>
          <a:bodyPr wrap="square">
            <a:spAutoFit/>
          </a:bodyPr>
          <a:lstStyle/>
          <a:p>
            <a:pPr algn="l"/>
            <a:r>
              <a:rPr sz="1300" b="0" i="0">
                <a:solidFill>
                  <a:srgbClr val="1E2761"/>
                </a:solidFill>
              </a:rPr>
              <a:t>Key insight: a content-correct prompt in the wrong format looks identical to "the model can't do the task." The bytes A/B result was a format-mismatch artefact.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Fix — Rewrite Prompts to Emit Regex Text (2026-04-13)</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New Jinja templates + new parser + new --input-format CLI flag</a:t>
            </a:r>
          </a:p>
        </p:txBody>
      </p:sp>
      <p:sp>
        <p:nvSpPr>
          <p:cNvPr id="5" name="TextBox 4"/>
          <p:cNvSpPr txBox="1"/>
          <p:nvPr/>
        </p:nvSpPr>
        <p:spPr>
          <a:xfrm>
            <a:off x="502920" y="1051560"/>
            <a:ext cx="11185855" cy="5532120"/>
          </a:xfrm>
          <a:prstGeom prst="rect">
            <a:avLst/>
          </a:prstGeom>
          <a:noFill/>
        </p:spPr>
        <p:txBody>
          <a:bodyPr wrap="square">
            <a:spAutoFit/>
          </a:bodyPr>
          <a:lstStyle/>
          <a:p>
            <a:pPr algn="l"/>
            <a:r>
              <a:rPr sz="1400" b="1">
                <a:solidFill>
                  <a:srgbClr val="1E2761"/>
                </a:solidFill>
              </a:rPr>
              <a:t>New templates</a:t>
            </a:r>
          </a:p>
          <a:p>
            <a:pPr algn="l"/>
            <a:r>
              <a:rPr sz="1300" b="0">
                <a:solidFill>
                  <a:srgbClr val="1A1A2E"/>
                </a:solidFill>
              </a:rPr>
              <a:t>  prediction/prompts/input_synthesis_regex.j2  (gap-targeted)</a:t>
            </a:r>
          </a:p>
          <a:p>
            <a:pPr algn="l"/>
            <a:r>
              <a:rPr sz="1300" b="0">
                <a:solidFill>
                  <a:srgbClr val="1A1A2E"/>
                </a:solidFill>
              </a:rPr>
              <a:t>  synthesis/prompts/source_only_synthesis_regex.j2  (source-only)</a:t>
            </a:r>
          </a:p>
          <a:p>
            <a:pPr algn="l"/>
            <a:r>
              <a:rPr sz="1400" b="1">
                <a:solidFill>
                  <a:srgbClr val="1E2761"/>
                </a:solidFill>
              </a:rPr>
              <a:t>New parser  parse_regex_response()  in synthesis/scripts/parse_synthesis.py</a:t>
            </a:r>
          </a:p>
          <a:p>
            <a:pPr algn="l"/>
            <a:r>
              <a:rPr sz="1300" b="0">
                <a:solidFill>
                  <a:srgbClr val="1A1A2E"/>
                </a:solidFill>
              </a:rPr>
              <a:t>  Extracts { "regexes": [ { "regex": str, "target_gaps": [...], … } ] }</a:t>
            </a:r>
          </a:p>
          <a:p>
            <a:pPr algn="l"/>
            <a:r>
              <a:rPr sz="1300" b="0">
                <a:solidFill>
                  <a:srgbClr val="1A1A2E"/>
                </a:solidFill>
              </a:rPr>
              <a:t>  Prepends 2 sha256-seeded flag bytes keyed by (target, sample, idx, regex)</a:t>
            </a:r>
          </a:p>
          <a:p>
            <a:pPr algn="l"/>
            <a:r>
              <a:rPr sz="1300" b="0">
                <a:solidFill>
                  <a:srgbClr val="1A1A2E"/>
                </a:solidFill>
              </a:rPr>
              <a:t>  UTF-8 encode with codepoint-boundary-safe truncation</a:t>
            </a:r>
          </a:p>
          <a:p>
            <a:pPr algn="l"/>
            <a:r>
              <a:rPr sz="1300" b="0">
                <a:solidFill>
                  <a:srgbClr val="1A1A2E"/>
                </a:solidFill>
              </a:rPr>
              <a:t>  Clips total bytes to RE2's [3, 64] window; deduplicates</a:t>
            </a:r>
          </a:p>
          <a:p>
            <a:pPr algn="l"/>
            <a:r>
              <a:rPr sz="1400" b="1">
                <a:solidFill>
                  <a:srgbClr val="1E2761"/>
                </a:solidFill>
              </a:rPr>
              <a:t>New CLI flag  --input-format {bytes,regex}</a:t>
            </a:r>
          </a:p>
          <a:p>
            <a:pPr algn="l"/>
            <a:r>
              <a:rPr sz="1300" b="0">
                <a:solidFill>
                  <a:srgbClr val="1A1A2E"/>
                </a:solidFill>
              </a:rPr>
              <a:t>  Routes the template + parser pair; old bytes outputs archived under *_bytes_v1/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Prompt Anatomy — exp1 vs exp2</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Same base template; Jinja toggles determine what each experiment sees</a:t>
            </a:r>
          </a:p>
        </p:txBody>
      </p:sp>
      <p:sp>
        <p:nvSpPr>
          <p:cNvPr id="5" name="Rectangle 4"/>
          <p:cNvSpPr/>
          <p:nvPr/>
        </p:nvSpPr>
        <p:spPr>
          <a:xfrm>
            <a:off x="502920" y="1051560"/>
            <a:ext cx="5501487" cy="3657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15568"/>
            <a:ext cx="5318607" cy="274320"/>
          </a:xfrm>
          <a:prstGeom prst="rect">
            <a:avLst/>
          </a:prstGeom>
          <a:noFill/>
        </p:spPr>
        <p:txBody>
          <a:bodyPr wrap="square">
            <a:spAutoFit/>
          </a:bodyPr>
          <a:lstStyle/>
          <a:p>
            <a:pPr algn="l"/>
            <a:r>
              <a:rPr sz="1400" b="1" i="0">
                <a:solidFill>
                  <a:srgbClr val="FFFFFF"/>
                </a:solidFill>
              </a:rPr>
              <a:t>exp1 — gap-targeted</a:t>
            </a:r>
          </a:p>
        </p:txBody>
      </p:sp>
      <p:sp>
        <p:nvSpPr>
          <p:cNvPr id="7" name="Rectangle 6"/>
          <p:cNvSpPr/>
          <p:nvPr/>
        </p:nvSpPr>
        <p:spPr>
          <a:xfrm>
            <a:off x="502920" y="1490472"/>
            <a:ext cx="5501487" cy="65836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81912"/>
            <a:ext cx="5318607" cy="530352"/>
          </a:xfrm>
          <a:prstGeom prst="rect">
            <a:avLst/>
          </a:prstGeom>
          <a:noFill/>
        </p:spPr>
        <p:txBody>
          <a:bodyPr wrap="square">
            <a:spAutoFit/>
          </a:bodyPr>
          <a:lstStyle/>
          <a:p>
            <a:pPr algn="l"/>
            <a:r>
              <a:rPr sz="1200" b="0" i="0">
                <a:solidFill>
                  <a:srgbClr val="1A1A2E"/>
                </a:solidFill>
              </a:rPr>
              <a:t>system + task description</a:t>
            </a:r>
          </a:p>
        </p:txBody>
      </p:sp>
      <p:sp>
        <p:nvSpPr>
          <p:cNvPr id="9" name="Rectangle 8"/>
          <p:cNvSpPr/>
          <p:nvPr/>
        </p:nvSpPr>
        <p:spPr>
          <a:xfrm>
            <a:off x="502920" y="2240280"/>
            <a:ext cx="5501487" cy="65836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31720"/>
            <a:ext cx="5318607" cy="530352"/>
          </a:xfrm>
          <a:prstGeom prst="rect">
            <a:avLst/>
          </a:prstGeom>
          <a:noFill/>
        </p:spPr>
        <p:txBody>
          <a:bodyPr wrap="square">
            <a:spAutoFit/>
          </a:bodyPr>
          <a:lstStyle/>
          <a:p>
            <a:pPr algn="l"/>
            <a:r>
              <a:rPr sz="1200" b="0" i="0">
                <a:solidFill>
                  <a:srgbClr val="1A1A2E"/>
                </a:solidFill>
              </a:rPr>
              <a:t>=== HARNESS FORMAT ===</a:t>
            </a:r>
          </a:p>
        </p:txBody>
      </p:sp>
      <p:sp>
        <p:nvSpPr>
          <p:cNvPr id="11" name="Rectangle 10"/>
          <p:cNvSpPr/>
          <p:nvPr/>
        </p:nvSpPr>
        <p:spPr>
          <a:xfrm>
            <a:off x="502920" y="2990088"/>
            <a:ext cx="5501487" cy="65836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081528"/>
            <a:ext cx="5318607" cy="530352"/>
          </a:xfrm>
          <a:prstGeom prst="rect">
            <a:avLst/>
          </a:prstGeom>
          <a:noFill/>
        </p:spPr>
        <p:txBody>
          <a:bodyPr wrap="square">
            <a:spAutoFit/>
          </a:bodyPr>
          <a:lstStyle/>
          <a:p>
            <a:pPr algn="l"/>
            <a:r>
              <a:rPr sz="1200" b="0" i="0">
                <a:solidFill>
                  <a:srgbClr val="1A1A2E"/>
                </a:solidFill>
              </a:rPr>
              <a:t>=== UPSTREAM TESTS (few-shot) ===</a:t>
            </a:r>
          </a:p>
        </p:txBody>
      </p:sp>
      <p:sp>
        <p:nvSpPr>
          <p:cNvPr id="13" name="Rectangle 12"/>
          <p:cNvSpPr/>
          <p:nvPr/>
        </p:nvSpPr>
        <p:spPr>
          <a:xfrm>
            <a:off x="502920" y="3739896"/>
            <a:ext cx="5501487" cy="65836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831336"/>
            <a:ext cx="5318607" cy="530352"/>
          </a:xfrm>
          <a:prstGeom prst="rect">
            <a:avLst/>
          </a:prstGeom>
          <a:noFill/>
        </p:spPr>
        <p:txBody>
          <a:bodyPr wrap="square">
            <a:spAutoFit/>
          </a:bodyPr>
          <a:lstStyle/>
          <a:p>
            <a:pPr algn="l"/>
            <a:r>
              <a:rPr sz="1200" b="0" i="0">
                <a:solidFill>
                  <a:srgbClr val="1A1A2E"/>
                </a:solidFill>
              </a:rPr>
              <a:t>=== UNCOVERED BRANCHES ===  (≤max_gaps, ordered by reachability)</a:t>
            </a:r>
          </a:p>
        </p:txBody>
      </p:sp>
      <p:sp>
        <p:nvSpPr>
          <p:cNvPr id="15" name="Rectangle 14"/>
          <p:cNvSpPr/>
          <p:nvPr/>
        </p:nvSpPr>
        <p:spPr>
          <a:xfrm>
            <a:off x="502920" y="4489704"/>
            <a:ext cx="5501487" cy="65836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581144"/>
            <a:ext cx="5318607" cy="530352"/>
          </a:xfrm>
          <a:prstGeom prst="rect">
            <a:avLst/>
          </a:prstGeom>
          <a:noFill/>
        </p:spPr>
        <p:txBody>
          <a:bodyPr wrap="square">
            <a:spAutoFit/>
          </a:bodyPr>
          <a:lstStyle/>
          <a:p>
            <a:pPr algn="l"/>
            <a:r>
              <a:rPr sz="1200" b="0" i="0">
                <a:solidFill>
                  <a:srgbClr val="1A1A2E"/>
                </a:solidFill>
              </a:rPr>
              <a:t>=== YOUR TASK ===  (N distinct regex patterns, 1–60 chars)</a:t>
            </a:r>
          </a:p>
        </p:txBody>
      </p:sp>
      <p:sp>
        <p:nvSpPr>
          <p:cNvPr id="17" name="Rectangle 16"/>
          <p:cNvSpPr/>
          <p:nvPr/>
        </p:nvSpPr>
        <p:spPr>
          <a:xfrm>
            <a:off x="6187287" y="1051560"/>
            <a:ext cx="5501487" cy="365760"/>
          </a:xfrm>
          <a:prstGeom prst="rect">
            <a:avLst/>
          </a:prstGeom>
          <a:solidFill>
            <a:srgbClr val="35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727" y="1115568"/>
            <a:ext cx="5318607" cy="274320"/>
          </a:xfrm>
          <a:prstGeom prst="rect">
            <a:avLst/>
          </a:prstGeom>
          <a:noFill/>
        </p:spPr>
        <p:txBody>
          <a:bodyPr wrap="square">
            <a:spAutoFit/>
          </a:bodyPr>
          <a:lstStyle/>
          <a:p>
            <a:pPr algn="l"/>
            <a:r>
              <a:rPr sz="1400" b="1" i="0">
                <a:solidFill>
                  <a:srgbClr val="FFFFFF"/>
                </a:solidFill>
              </a:rPr>
              <a:t>exp2 — source-only</a:t>
            </a:r>
          </a:p>
        </p:txBody>
      </p:sp>
      <p:sp>
        <p:nvSpPr>
          <p:cNvPr id="19" name="Rectangle 18"/>
          <p:cNvSpPr/>
          <p:nvPr/>
        </p:nvSpPr>
        <p:spPr>
          <a:xfrm>
            <a:off x="6187287" y="1490472"/>
            <a:ext cx="5501487" cy="65836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1581912"/>
            <a:ext cx="5318607" cy="530352"/>
          </a:xfrm>
          <a:prstGeom prst="rect">
            <a:avLst/>
          </a:prstGeom>
          <a:noFill/>
        </p:spPr>
        <p:txBody>
          <a:bodyPr wrap="square">
            <a:spAutoFit/>
          </a:bodyPr>
          <a:lstStyle/>
          <a:p>
            <a:pPr algn="l"/>
            <a:r>
              <a:rPr sz="1200" b="0" i="0">
                <a:solidFill>
                  <a:srgbClr val="1A1A2E"/>
                </a:solidFill>
              </a:rPr>
              <a:t>system + task description</a:t>
            </a:r>
          </a:p>
        </p:txBody>
      </p:sp>
      <p:sp>
        <p:nvSpPr>
          <p:cNvPr id="21" name="Rectangle 20"/>
          <p:cNvSpPr/>
          <p:nvPr/>
        </p:nvSpPr>
        <p:spPr>
          <a:xfrm>
            <a:off x="6187287" y="2240280"/>
            <a:ext cx="5501487" cy="65836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8727" y="2331720"/>
            <a:ext cx="5318607" cy="530352"/>
          </a:xfrm>
          <a:prstGeom prst="rect">
            <a:avLst/>
          </a:prstGeom>
          <a:noFill/>
        </p:spPr>
        <p:txBody>
          <a:bodyPr wrap="square">
            <a:spAutoFit/>
          </a:bodyPr>
          <a:lstStyle/>
          <a:p>
            <a:pPr algn="l"/>
            <a:r>
              <a:rPr sz="1200" b="0" i="0">
                <a:solidFill>
                  <a:srgbClr val="1A1A2E"/>
                </a:solidFill>
              </a:rPr>
              <a:t>=== HARNESS FORMAT ===</a:t>
            </a:r>
          </a:p>
        </p:txBody>
      </p:sp>
      <p:sp>
        <p:nvSpPr>
          <p:cNvPr id="23" name="Rectangle 22"/>
          <p:cNvSpPr/>
          <p:nvPr/>
        </p:nvSpPr>
        <p:spPr>
          <a:xfrm>
            <a:off x="6187287" y="2990088"/>
            <a:ext cx="5501487" cy="65836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8727" y="3081528"/>
            <a:ext cx="5318607" cy="530352"/>
          </a:xfrm>
          <a:prstGeom prst="rect">
            <a:avLst/>
          </a:prstGeom>
          <a:noFill/>
        </p:spPr>
        <p:txBody>
          <a:bodyPr wrap="square">
            <a:spAutoFit/>
          </a:bodyPr>
          <a:lstStyle/>
          <a:p>
            <a:pPr algn="l"/>
            <a:r>
              <a:rPr sz="1200" b="0" i="0">
                <a:solidFill>
                  <a:srgbClr val="1A1A2E"/>
                </a:solidFill>
              </a:rPr>
              <a:t>[LIBRARY SOURCE CODE]  (4 files, call-graph priority, ≤14k tokens)</a:t>
            </a:r>
          </a:p>
        </p:txBody>
      </p:sp>
      <p:sp>
        <p:nvSpPr>
          <p:cNvPr id="25" name="Rectangle 24"/>
          <p:cNvSpPr/>
          <p:nvPr/>
        </p:nvSpPr>
        <p:spPr>
          <a:xfrm>
            <a:off x="6187287" y="3739896"/>
            <a:ext cx="5501487" cy="65836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8727" y="3831336"/>
            <a:ext cx="5318607" cy="530352"/>
          </a:xfrm>
          <a:prstGeom prst="rect">
            <a:avLst/>
          </a:prstGeom>
          <a:noFill/>
        </p:spPr>
        <p:txBody>
          <a:bodyPr wrap="square">
            <a:spAutoFit/>
          </a:bodyPr>
          <a:lstStyle/>
          <a:p>
            <a:pPr algn="l"/>
            <a:r>
              <a:rPr sz="1200" b="0" i="0">
                <a:solidFill>
                  <a:srgbClr val="1A1A2E"/>
                </a:solidFill>
              </a:rPr>
              <a:t>— assert_no_tests guard; no gaps block —</a:t>
            </a:r>
          </a:p>
        </p:txBody>
      </p:sp>
      <p:sp>
        <p:nvSpPr>
          <p:cNvPr id="27" name="Rectangle 26"/>
          <p:cNvSpPr/>
          <p:nvPr/>
        </p:nvSpPr>
        <p:spPr>
          <a:xfrm>
            <a:off x="6187287" y="4489704"/>
            <a:ext cx="5501487" cy="65836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7" y="4581144"/>
            <a:ext cx="5318607" cy="530352"/>
          </a:xfrm>
          <a:prstGeom prst="rect">
            <a:avLst/>
          </a:prstGeom>
          <a:noFill/>
        </p:spPr>
        <p:txBody>
          <a:bodyPr wrap="square">
            <a:spAutoFit/>
          </a:bodyPr>
          <a:lstStyle/>
          <a:p>
            <a:pPr algn="l"/>
            <a:r>
              <a:rPr sz="1200" b="0" i="0">
                <a:solidFill>
                  <a:srgbClr val="1A1A2E"/>
                </a:solidFill>
              </a:rPr>
              <a:t>=== YOUR TASK ===  (N distinct regex patterns, prioritize DEPTH)</a:t>
            </a:r>
          </a:p>
        </p:txBody>
      </p:sp>
      <p:sp>
        <p:nvSpPr>
          <p:cNvPr id="29" name="TextBox 28"/>
          <p:cNvSpPr txBox="1"/>
          <p:nvPr/>
        </p:nvSpPr>
        <p:spPr>
          <a:xfrm>
            <a:off x="502920" y="6400800"/>
            <a:ext cx="11185855" cy="274320"/>
          </a:xfrm>
          <a:prstGeom prst="rect">
            <a:avLst/>
          </a:prstGeom>
          <a:noFill/>
        </p:spPr>
        <p:txBody>
          <a:bodyPr wrap="square">
            <a:spAutoFit/>
          </a:bodyPr>
          <a:lstStyle/>
          <a:p>
            <a:pPr algn="l"/>
            <a:r>
              <a:rPr sz="1100" b="0" i="1">
                <a:solidFill>
                  <a:srgbClr val="556080"/>
                </a:solidFill>
              </a:rPr>
              <a:t>The rest of the prompt (JSON schema, output rules) is identical across all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What the LLM Returns — Raw JSON Output</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Real output: phase3_results/…/exp1/llama-3.1-8b-instruct/sample_0.json</a:t>
            </a:r>
          </a:p>
        </p:txBody>
      </p:sp>
      <p:sp>
        <p:nvSpPr>
          <p:cNvPr id="5" name="Rectangle 4"/>
          <p:cNvSpPr/>
          <p:nvPr/>
        </p:nvSpPr>
        <p:spPr>
          <a:xfrm>
            <a:off x="502920" y="1051560"/>
            <a:ext cx="11185855" cy="3291840"/>
          </a:xfrm>
          <a:prstGeom prst="rect">
            <a:avLst/>
          </a:prstGeom>
          <a:solidFill>
            <a:srgbClr val="F0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43000"/>
            <a:ext cx="10911535" cy="3108960"/>
          </a:xfrm>
          <a:prstGeom prst="rect">
            <a:avLst/>
          </a:prstGeom>
          <a:noFill/>
        </p:spPr>
        <p:txBody>
          <a:bodyPr wrap="square">
            <a:spAutoFit/>
          </a:bodyPr>
          <a:lstStyle/>
          <a:p>
            <a:pPr algn="l"/>
            <a:r>
              <a:rPr sz="1100" b="0" i="0">
                <a:solidFill>
                  <a:srgbClr val="1A1A2E"/>
                </a:solidFill>
              </a:rPr>
              <a:t>{
  "regexes": [
    { "regex": "\\u{1234}+",   "target_gaps": ["re2/bitstate.cc:112"],
                                  "reasoning": "Unicode escape triggers stack growth" },
    { "regex": "(a*)*",         "target_gaps": ["re2/bitstate.cc:121"],
                                  "reasoning": "Nested repetitions may overflow stack" },
    { "regex": "[^a-zA-Z0-9]+", "target_gaps": ["re2/bitstate.cc:126"],
                                  "reasoning": "Large character class" },
    { "regex": "(?P&lt;g1&gt;a+)",    "target_gaps": ["re2/bitstate.cc:131"],
                                  "reasoning": "Named captures" },
    { "regex": "a{1000,}",      "target_gaps": ["re2/compile.cc:311"],
                                  "reasoning": "Large counted repetitions" }
  ]
}</a:t>
            </a:r>
          </a:p>
        </p:txBody>
      </p:sp>
      <p:sp>
        <p:nvSpPr>
          <p:cNvPr id="7" name="TextBox 6"/>
          <p:cNvSpPr txBox="1"/>
          <p:nvPr/>
        </p:nvSpPr>
        <p:spPr>
          <a:xfrm>
            <a:off x="502920" y="4434840"/>
            <a:ext cx="11185855" cy="274320"/>
          </a:xfrm>
          <a:prstGeom prst="rect">
            <a:avLst/>
          </a:prstGeom>
          <a:noFill/>
        </p:spPr>
        <p:txBody>
          <a:bodyPr wrap="square">
            <a:spAutoFit/>
          </a:bodyPr>
          <a:lstStyle/>
          <a:p>
            <a:pPr algn="l"/>
            <a:r>
              <a:rPr sz="1200" b="1" i="0">
                <a:solidFill>
                  <a:srgbClr val="1E2761"/>
                </a:solidFill>
              </a:rPr>
              <a:t>parse_regex_response() extracts the "regexes" array, then emits one seed file per entry.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From JSON to Seed Files</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parse_regex_response() prepends 2 sha256-seeded flag bytes; clips to [3, 64] bytes; deduplicates</a:t>
            </a:r>
          </a:p>
        </p:txBody>
      </p:sp>
      <p:graphicFrame>
        <p:nvGraphicFramePr>
          <p:cNvPr id="5" name="Table 4"/>
          <p:cNvGraphicFramePr>
            <a:graphicFrameLocks noGrp="1"/>
          </p:cNvGraphicFramePr>
          <p:nvPr/>
        </p:nvGraphicFramePr>
        <p:xfrm>
          <a:off x="502920" y="1051560"/>
          <a:ext cx="9784080" cy="2414016"/>
        </p:xfrm>
        <a:graphic>
          <a:graphicData uri="http://schemas.openxmlformats.org/drawingml/2006/table">
            <a:tbl>
              <a:tblPr firstRow="1" bandRow="1">
                <a:tableStyleId>{5C22544A-7EE6-4342-B048-85BDC9FD1C3A}</a:tableStyleId>
              </a:tblPr>
              <a:tblGrid>
                <a:gridCol w="2926080"/>
                <a:gridCol w="1828800"/>
                <a:gridCol w="3200400"/>
                <a:gridCol w="1828800"/>
              </a:tblGrid>
              <a:tr h="402336">
                <a:tc>
                  <a:txBody>
                    <a:bodyPr wrap="square"/>
                    <a:lstStyle/>
                    <a:p>
                      <a:pPr algn="l"/>
                      <a:r>
                        <a:rPr sz="1100" b="1">
                          <a:solidFill>
                            <a:srgbClr val="FFFFFF"/>
                          </a:solidFill>
                        </a:rPr>
                        <a:t>seed file</a:t>
                      </a:r>
                    </a:p>
                  </a:txBody>
                  <a:tcPr>
                    <a:solidFill>
                      <a:srgbClr val="354A9E"/>
                    </a:solidFill>
                  </a:tcPr>
                </a:tc>
                <a:tc>
                  <a:txBody>
                    <a:bodyPr wrap="square"/>
                    <a:lstStyle/>
                    <a:p>
                      <a:pPr algn="ctr"/>
                      <a:r>
                        <a:rPr sz="1100" b="1">
                          <a:solidFill>
                            <a:srgbClr val="FFFFFF"/>
                          </a:solidFill>
                        </a:rPr>
                        <a:t>flag bytes (hex)</a:t>
                      </a:r>
                    </a:p>
                  </a:txBody>
                  <a:tcPr>
                    <a:solidFill>
                      <a:srgbClr val="354A9E"/>
                    </a:solidFill>
                  </a:tcPr>
                </a:tc>
                <a:tc>
                  <a:txBody>
                    <a:bodyPr wrap="square"/>
                    <a:lstStyle/>
                    <a:p>
                      <a:pPr algn="ctr"/>
                      <a:r>
                        <a:rPr sz="1100" b="1">
                          <a:solidFill>
                            <a:srgbClr val="FFFFFF"/>
                          </a:solidFill>
                        </a:rPr>
                        <a:t>regex body</a:t>
                      </a:r>
                    </a:p>
                  </a:txBody>
                  <a:tcPr>
                    <a:solidFill>
                      <a:srgbClr val="354A9E"/>
                    </a:solidFill>
                  </a:tcPr>
                </a:tc>
                <a:tc>
                  <a:txBody>
                    <a:bodyPr wrap="square"/>
                    <a:lstStyle/>
                    <a:p>
                      <a:pPr algn="ctr"/>
                      <a:r>
                        <a:rPr sz="1100" b="1">
                          <a:solidFill>
                            <a:srgbClr val="FFFFFF"/>
                          </a:solidFill>
                        </a:rPr>
                        <a:t>total bytes</a:t>
                      </a:r>
                    </a:p>
                  </a:txBody>
                  <a:tcPr>
                    <a:solidFill>
                      <a:srgbClr val="354A9E"/>
                    </a:solidFill>
                  </a:tcPr>
                </a:tc>
              </a:tr>
              <a:tr h="402336">
                <a:tc>
                  <a:txBody>
                    <a:bodyPr wrap="square"/>
                    <a:lstStyle/>
                    <a:p>
                      <a:pPr algn="l"/>
                      <a:r>
                        <a:rPr sz="1100" b="0">
                          <a:solidFill>
                            <a:srgbClr val="1A1A2E"/>
                          </a:solidFill>
                        </a:rPr>
                        <a:t>seed_b6c1….bin</a:t>
                      </a:r>
                    </a:p>
                  </a:txBody>
                  <a:tcPr/>
                </a:tc>
                <a:tc>
                  <a:txBody>
                    <a:bodyPr wrap="square"/>
                    <a:lstStyle/>
                    <a:p>
                      <a:pPr algn="ctr"/>
                      <a:r>
                        <a:rPr sz="1100" b="0">
                          <a:solidFill>
                            <a:srgbClr val="1A1A2E"/>
                          </a:solidFill>
                        </a:rPr>
                        <a:t>6D 29</a:t>
                      </a:r>
                    </a:p>
                  </a:txBody>
                  <a:tcPr/>
                </a:tc>
                <a:tc>
                  <a:txBody>
                    <a:bodyPr wrap="square"/>
                    <a:lstStyle/>
                    <a:p>
                      <a:pPr algn="ctr"/>
                      <a:r>
                        <a:rPr sz="1100" b="0">
                          <a:solidFill>
                            <a:srgbClr val="1A1A2E"/>
                          </a:solidFill>
                        </a:rPr>
                        <a:t>\u{1234}+</a:t>
                      </a:r>
                    </a:p>
                  </a:txBody>
                  <a:tcPr/>
                </a:tc>
                <a:tc>
                  <a:txBody>
                    <a:bodyPr wrap="square"/>
                    <a:lstStyle/>
                    <a:p>
                      <a:pPr algn="ctr"/>
                      <a:r>
                        <a:rPr sz="1100" b="0">
                          <a:solidFill>
                            <a:srgbClr val="1A1A2E"/>
                          </a:solidFill>
                        </a:rPr>
                        <a:t>11</a:t>
                      </a:r>
                    </a:p>
                  </a:txBody>
                  <a:tcPr/>
                </a:tc>
              </a:tr>
              <a:tr h="402336">
                <a:tc>
                  <a:txBody>
                    <a:bodyPr wrap="square"/>
                    <a:lstStyle/>
                    <a:p>
                      <a:pPr algn="l"/>
                      <a:r>
                        <a:rPr sz="1100" b="0">
                          <a:solidFill>
                            <a:srgbClr val="1A1A2E"/>
                          </a:solidFill>
                        </a:rPr>
                        <a:t>seed_bd18….bin</a:t>
                      </a:r>
                    </a:p>
                  </a:txBody>
                  <a:tcPr>
                    <a:solidFill>
                      <a:srgbClr val="EEF2FF"/>
                    </a:solidFill>
                  </a:tcPr>
                </a:tc>
                <a:tc>
                  <a:txBody>
                    <a:bodyPr wrap="square"/>
                    <a:lstStyle/>
                    <a:p>
                      <a:pPr algn="ctr"/>
                      <a:r>
                        <a:rPr sz="1100" b="0">
                          <a:solidFill>
                            <a:srgbClr val="1A1A2E"/>
                          </a:solidFill>
                        </a:rPr>
                        <a:t>5A 2A</a:t>
                      </a:r>
                    </a:p>
                  </a:txBody>
                  <a:tcPr>
                    <a:solidFill>
                      <a:srgbClr val="EEF2FF"/>
                    </a:solidFill>
                  </a:tcPr>
                </a:tc>
                <a:tc>
                  <a:txBody>
                    <a:bodyPr wrap="square"/>
                    <a:lstStyle/>
                    <a:p>
                      <a:pPr algn="ctr"/>
                      <a:r>
                        <a:rPr sz="1100" b="0">
                          <a:solidFill>
                            <a:srgbClr val="1A1A2E"/>
                          </a:solidFill>
                        </a:rPr>
                        <a:t>(a*)*</a:t>
                      </a:r>
                    </a:p>
                  </a:txBody>
                  <a:tcPr>
                    <a:solidFill>
                      <a:srgbClr val="EEF2FF"/>
                    </a:solidFill>
                  </a:tcPr>
                </a:tc>
                <a:tc>
                  <a:txBody>
                    <a:bodyPr wrap="square"/>
                    <a:lstStyle/>
                    <a:p>
                      <a:pPr algn="ctr"/>
                      <a:r>
                        <a:rPr sz="1100" b="0">
                          <a:solidFill>
                            <a:srgbClr val="1A1A2E"/>
                          </a:solidFill>
                        </a:rPr>
                        <a:t>7</a:t>
                      </a:r>
                    </a:p>
                  </a:txBody>
                  <a:tcPr>
                    <a:solidFill>
                      <a:srgbClr val="EEF2FF"/>
                    </a:solidFill>
                  </a:tcPr>
                </a:tc>
              </a:tr>
              <a:tr h="402336">
                <a:tc>
                  <a:txBody>
                    <a:bodyPr wrap="square"/>
                    <a:lstStyle/>
                    <a:p>
                      <a:pPr algn="l"/>
                      <a:r>
                        <a:rPr sz="1100" b="0">
                          <a:solidFill>
                            <a:srgbClr val="1A1A2E"/>
                          </a:solidFill>
                        </a:rPr>
                        <a:t>seed_12c0….bin</a:t>
                      </a:r>
                    </a:p>
                  </a:txBody>
                  <a:tcPr/>
                </a:tc>
                <a:tc>
                  <a:txBody>
                    <a:bodyPr wrap="square"/>
                    <a:lstStyle/>
                    <a:p>
                      <a:pPr algn="ctr"/>
                      <a:r>
                        <a:rPr sz="1100" b="0">
                          <a:solidFill>
                            <a:srgbClr val="1A1A2E"/>
                          </a:solidFill>
                        </a:rPr>
                        <a:t>F4 E2</a:t>
                      </a:r>
                    </a:p>
                  </a:txBody>
                  <a:tcPr/>
                </a:tc>
                <a:tc>
                  <a:txBody>
                    <a:bodyPr wrap="square"/>
                    <a:lstStyle/>
                    <a:p>
                      <a:pPr algn="ctr"/>
                      <a:r>
                        <a:rPr sz="1100" b="0">
                          <a:solidFill>
                            <a:srgbClr val="1A1A2E"/>
                          </a:solidFill>
                        </a:rPr>
                        <a:t>[^a-zA-Z0-9]+</a:t>
                      </a:r>
                    </a:p>
                  </a:txBody>
                  <a:tcPr/>
                </a:tc>
                <a:tc>
                  <a:txBody>
                    <a:bodyPr wrap="square"/>
                    <a:lstStyle/>
                    <a:p>
                      <a:pPr algn="ctr"/>
                      <a:r>
                        <a:rPr sz="1100" b="0">
                          <a:solidFill>
                            <a:srgbClr val="1A1A2E"/>
                          </a:solidFill>
                        </a:rPr>
                        <a:t>15</a:t>
                      </a:r>
                    </a:p>
                  </a:txBody>
                  <a:tcPr/>
                </a:tc>
              </a:tr>
              <a:tr h="402336">
                <a:tc>
                  <a:txBody>
                    <a:bodyPr wrap="square"/>
                    <a:lstStyle/>
                    <a:p>
                      <a:pPr algn="l"/>
                      <a:r>
                        <a:rPr sz="1100" b="0">
                          <a:solidFill>
                            <a:srgbClr val="1A1A2E"/>
                          </a:solidFill>
                        </a:rPr>
                        <a:t>seed_b3e5….bin</a:t>
                      </a:r>
                    </a:p>
                  </a:txBody>
                  <a:tcPr>
                    <a:solidFill>
                      <a:srgbClr val="EEF2FF"/>
                    </a:solidFill>
                  </a:tcPr>
                </a:tc>
                <a:tc>
                  <a:txBody>
                    <a:bodyPr wrap="square"/>
                    <a:lstStyle/>
                    <a:p>
                      <a:pPr algn="ctr"/>
                      <a:r>
                        <a:rPr sz="1100" b="0">
                          <a:solidFill>
                            <a:srgbClr val="1A1A2E"/>
                          </a:solidFill>
                        </a:rPr>
                        <a:t>DC E3</a:t>
                      </a:r>
                    </a:p>
                  </a:txBody>
                  <a:tcPr>
                    <a:solidFill>
                      <a:srgbClr val="EEF2FF"/>
                    </a:solidFill>
                  </a:tcPr>
                </a:tc>
                <a:tc>
                  <a:txBody>
                    <a:bodyPr wrap="square"/>
                    <a:lstStyle/>
                    <a:p>
                      <a:pPr algn="ctr"/>
                      <a:r>
                        <a:rPr sz="1100" b="0">
                          <a:solidFill>
                            <a:srgbClr val="1A1A2E"/>
                          </a:solidFill>
                        </a:rPr>
                        <a:t>(?P&lt;g1&gt;a+)</a:t>
                      </a:r>
                    </a:p>
                  </a:txBody>
                  <a:tcPr>
                    <a:solidFill>
                      <a:srgbClr val="EEF2FF"/>
                    </a:solidFill>
                  </a:tcPr>
                </a:tc>
                <a:tc>
                  <a:txBody>
                    <a:bodyPr wrap="square"/>
                    <a:lstStyle/>
                    <a:p>
                      <a:pPr algn="ctr"/>
                      <a:r>
                        <a:rPr sz="1100" b="0">
                          <a:solidFill>
                            <a:srgbClr val="1A1A2E"/>
                          </a:solidFill>
                        </a:rPr>
                        <a:t>12</a:t>
                      </a:r>
                    </a:p>
                  </a:txBody>
                  <a:tcPr>
                    <a:solidFill>
                      <a:srgbClr val="EEF2FF"/>
                    </a:solidFill>
                  </a:tcPr>
                </a:tc>
              </a:tr>
              <a:tr h="402336">
                <a:tc>
                  <a:txBody>
                    <a:bodyPr wrap="square"/>
                    <a:lstStyle/>
                    <a:p>
                      <a:pPr algn="l"/>
                      <a:r>
                        <a:rPr sz="1100" b="0">
                          <a:solidFill>
                            <a:srgbClr val="1A1A2E"/>
                          </a:solidFill>
                        </a:rPr>
                        <a:t>seed_1de0….bin</a:t>
                      </a:r>
                    </a:p>
                  </a:txBody>
                  <a:tcPr/>
                </a:tc>
                <a:tc>
                  <a:txBody>
                    <a:bodyPr wrap="square"/>
                    <a:lstStyle/>
                    <a:p>
                      <a:pPr algn="ctr"/>
                      <a:r>
                        <a:rPr sz="1100" b="0">
                          <a:solidFill>
                            <a:srgbClr val="1A1A2E"/>
                          </a:solidFill>
                        </a:rPr>
                        <a:t>09 D3</a:t>
                      </a:r>
                    </a:p>
                  </a:txBody>
                  <a:tcPr/>
                </a:tc>
                <a:tc>
                  <a:txBody>
                    <a:bodyPr wrap="square"/>
                    <a:lstStyle/>
                    <a:p>
                      <a:pPr algn="ctr"/>
                      <a:r>
                        <a:rPr sz="1100" b="0">
                          <a:solidFill>
                            <a:srgbClr val="1A1A2E"/>
                          </a:solidFill>
                        </a:rPr>
                        <a:t>a{1000,}</a:t>
                      </a:r>
                    </a:p>
                  </a:txBody>
                  <a:tcPr/>
                </a:tc>
                <a:tc>
                  <a:txBody>
                    <a:bodyPr wrap="square"/>
                    <a:lstStyle/>
                    <a:p>
                      <a:pPr algn="ctr"/>
                      <a:r>
                        <a:rPr sz="1100" b="0">
                          <a:solidFill>
                            <a:srgbClr val="1A1A2E"/>
                          </a:solidFill>
                        </a:rPr>
                        <a:t>10</a:t>
                      </a:r>
                    </a:p>
                  </a:txBody>
                  <a:tcPr/>
                </a:tc>
              </a:tr>
            </a:tbl>
          </a:graphicData>
        </a:graphic>
      </p:graphicFrame>
      <p:sp>
        <p:nvSpPr>
          <p:cNvPr id="6" name="TextBox 5"/>
          <p:cNvSpPr txBox="1"/>
          <p:nvPr/>
        </p:nvSpPr>
        <p:spPr>
          <a:xfrm>
            <a:off x="502920" y="3739896"/>
            <a:ext cx="11185855" cy="256032"/>
          </a:xfrm>
          <a:prstGeom prst="rect">
            <a:avLst/>
          </a:prstGeom>
          <a:noFill/>
        </p:spPr>
        <p:txBody>
          <a:bodyPr wrap="square">
            <a:spAutoFit/>
          </a:bodyPr>
          <a:lstStyle/>
          <a:p>
            <a:pPr algn="l"/>
            <a:r>
              <a:rPr sz="1300" b="1" i="0">
                <a:solidFill>
                  <a:srgbClr val="1E2761"/>
                </a:solidFill>
              </a:rPr>
              <a:t>Flag bytes = sha256(target, sample_idx, regex_idx, regex)[:2] — deterministic, not random.</a:t>
            </a:r>
          </a:p>
        </p:txBody>
      </p:sp>
      <p:sp>
        <p:nvSpPr>
          <p:cNvPr id="7" name="TextBox 6"/>
          <p:cNvSpPr txBox="1"/>
          <p:nvPr/>
        </p:nvSpPr>
        <p:spPr>
          <a:xfrm>
            <a:off x="502920" y="4059936"/>
            <a:ext cx="11185855" cy="502920"/>
          </a:xfrm>
          <a:prstGeom prst="rect">
            <a:avLst/>
          </a:prstGeom>
          <a:noFill/>
        </p:spPr>
        <p:txBody>
          <a:bodyPr wrap="square">
            <a:spAutoFit/>
          </a:bodyPr>
          <a:lstStyle/>
          <a:p>
            <a:pPr algn="l"/>
            <a:r>
              <a:rPr sz="1200" b="0" i="0">
                <a:solidFill>
                  <a:srgbClr val="1A1A2E"/>
                </a:solidFill>
              </a:rPr>
              <a:t>The [2 flag bytes][regex string] layout satisfies the RE2 harness constraint: 3 ≤ size ≤ 64. Seeds are passed to seed_replay (same LLVMFuzzerTestOneInput as the libFuzzer target), which emits .profraw files for llvm-cov-15 to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Second A/B Result — Regex-Format Prompt (2026-04-13)</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Same target, same fixture, same model — only prompt + parser changed</a:t>
            </a:r>
          </a:p>
        </p:txBody>
      </p:sp>
      <p:graphicFrame>
        <p:nvGraphicFramePr>
          <p:cNvPr id="5" name="Table 4"/>
          <p:cNvGraphicFramePr>
            <a:graphicFrameLocks noGrp="1"/>
          </p:cNvGraphicFramePr>
          <p:nvPr/>
        </p:nvGraphicFramePr>
        <p:xfrm>
          <a:off x="502920" y="1051560"/>
          <a:ext cx="9784080" cy="2688336"/>
        </p:xfrm>
        <a:graphic>
          <a:graphicData uri="http://schemas.openxmlformats.org/drawingml/2006/table">
            <a:tbl>
              <a:tblPr firstRow="1" bandRow="1">
                <a:tableStyleId>{5C22544A-7EE6-4342-B048-85BDC9FD1C3A}</a:tableStyleId>
              </a:tblPr>
              <a:tblGrid>
                <a:gridCol w="3200400"/>
                <a:gridCol w="1645920"/>
                <a:gridCol w="1645920"/>
                <a:gridCol w="1645920"/>
                <a:gridCol w="1645920"/>
              </a:tblGrid>
              <a:tr h="384048">
                <a:tc>
                  <a:txBody>
                    <a:bodyPr wrap="square"/>
                    <a:lstStyle/>
                    <a:p>
                      <a:pPr algn="l"/>
                      <a:r>
                        <a:rPr sz="1100" b="1">
                          <a:solidFill>
                            <a:srgbClr val="FFFFFF"/>
                          </a:solidFill>
                        </a:rPr>
                        <a:t>metric</a:t>
                      </a:r>
                    </a:p>
                  </a:txBody>
                  <a:tcPr>
                    <a:solidFill>
                      <a:srgbClr val="354A9E"/>
                    </a:solidFill>
                  </a:tcPr>
                </a:tc>
                <a:tc>
                  <a:txBody>
                    <a:bodyPr wrap="square"/>
                    <a:lstStyle/>
                    <a:p>
                      <a:pPr algn="ctr"/>
                      <a:r>
                        <a:rPr sz="1100" b="1">
                          <a:solidFill>
                            <a:srgbClr val="FFFFFF"/>
                          </a:solidFill>
                        </a:rPr>
                        <a:t>exp1 (gap)</a:t>
                      </a:r>
                    </a:p>
                  </a:txBody>
                  <a:tcPr>
                    <a:solidFill>
                      <a:srgbClr val="354A9E"/>
                    </a:solidFill>
                  </a:tcPr>
                </a:tc>
                <a:tc>
                  <a:txBody>
                    <a:bodyPr wrap="square"/>
                    <a:lstStyle/>
                    <a:p>
                      <a:pPr algn="ctr"/>
                      <a:r>
                        <a:rPr sz="1100" b="1">
                          <a:solidFill>
                            <a:srgbClr val="FFFFFF"/>
                          </a:solidFill>
                        </a:rPr>
                        <a:t>exp2 (source)</a:t>
                      </a:r>
                    </a:p>
                  </a:txBody>
                  <a:tcPr>
                    <a:solidFill>
                      <a:srgbClr val="354A9E"/>
                    </a:solidFill>
                  </a:tcPr>
                </a:tc>
                <a:tc>
                  <a:txBody>
                    <a:bodyPr wrap="square"/>
                    <a:lstStyle/>
                    <a:p>
                      <a:pPr algn="ctr"/>
                      <a:r>
                        <a:rPr sz="1100" b="1">
                          <a:solidFill>
                            <a:srgbClr val="FFFFFF"/>
                          </a:solidFill>
                        </a:rPr>
                        <a:t>union</a:t>
                      </a:r>
                    </a:p>
                  </a:txBody>
                  <a:tcPr>
                    <a:solidFill>
                      <a:srgbClr val="354A9E"/>
                    </a:solidFill>
                  </a:tcPr>
                </a:tc>
                <a:tc>
                  <a:txBody>
                    <a:bodyPr wrap="square"/>
                    <a:lstStyle/>
                    <a:p>
                      <a:pPr algn="ctr"/>
                      <a:r>
                        <a:rPr sz="1100" b="1">
                          <a:solidFill>
                            <a:srgbClr val="FFFFFF"/>
                          </a:solidFill>
                        </a:rPr>
                        <a:t>intersection</a:t>
                      </a:r>
                    </a:p>
                  </a:txBody>
                  <a:tcPr>
                    <a:solidFill>
                      <a:srgbClr val="354A9E"/>
                    </a:solidFill>
                  </a:tcPr>
                </a:tc>
              </a:tr>
              <a:tr h="384048">
                <a:tc>
                  <a:txBody>
                    <a:bodyPr wrap="square"/>
                    <a:lstStyle/>
                    <a:p>
                      <a:pPr algn="l"/>
                      <a:r>
                        <a:rPr sz="1100" b="0">
                          <a:solidFill>
                            <a:srgbClr val="1A1A2E"/>
                          </a:solidFill>
                        </a:rPr>
                        <a:t>seeds produced</a:t>
                      </a:r>
                    </a:p>
                  </a:txBody>
                  <a:tcPr/>
                </a:tc>
                <a:tc>
                  <a:txBody>
                    <a:bodyPr wrap="square"/>
                    <a:lstStyle/>
                    <a:p>
                      <a:pPr algn="ctr"/>
                      <a:r>
                        <a:rPr sz="1100" b="0">
                          <a:solidFill>
                            <a:srgbClr val="1A1A2E"/>
                          </a:solidFill>
                        </a:rPr>
                        <a:t>20</a:t>
                      </a:r>
                    </a:p>
                  </a:txBody>
                  <a:tcPr/>
                </a:tc>
                <a:tc>
                  <a:txBody>
                    <a:bodyPr wrap="square"/>
                    <a:lstStyle/>
                    <a:p>
                      <a:pPr algn="ctr"/>
                      <a:r>
                        <a:rPr sz="1100" b="0">
                          <a:solidFill>
                            <a:srgbClr val="1A1A2E"/>
                          </a:solidFill>
                        </a:rPr>
                        <a:t>30</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r>
              <a:tr h="384048">
                <a:tc>
                  <a:txBody>
                    <a:bodyPr wrap="square"/>
                    <a:lstStyle/>
                    <a:p>
                      <a:pPr algn="l"/>
                      <a:r>
                        <a:rPr sz="1100" b="0">
                          <a:solidFill>
                            <a:srgbClr val="1A1A2E"/>
                          </a:solidFill>
                        </a:rPr>
                        <a:t>ok samples / total</a:t>
                      </a:r>
                    </a:p>
                  </a:txBody>
                  <a:tcPr>
                    <a:solidFill>
                      <a:srgbClr val="EEF2FF"/>
                    </a:solidFill>
                  </a:tcPr>
                </a:tc>
                <a:tc>
                  <a:txBody>
                    <a:bodyPr wrap="square"/>
                    <a:lstStyle/>
                    <a:p>
                      <a:pPr algn="ctr"/>
                      <a:r>
                        <a:rPr sz="1100" b="0">
                          <a:solidFill>
                            <a:srgbClr val="1A1A2E"/>
                          </a:solidFill>
                        </a:rPr>
                        <a:t>2/3</a:t>
                      </a:r>
                    </a:p>
                  </a:txBody>
                  <a:tcPr>
                    <a:solidFill>
                      <a:srgbClr val="EEF2FF"/>
                    </a:solidFill>
                  </a:tcPr>
                </a:tc>
                <a:tc>
                  <a:txBody>
                    <a:bodyPr wrap="square"/>
                    <a:lstStyle/>
                    <a:p>
                      <a:pPr algn="ctr"/>
                      <a:r>
                        <a:rPr sz="1100" b="0">
                          <a:solidFill>
                            <a:srgbClr val="1A1A2E"/>
                          </a:solidFill>
                        </a:rPr>
                        <a:t>3/3</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r>
              <a:tr h="384048">
                <a:tc>
                  <a:txBody>
                    <a:bodyPr wrap="square"/>
                    <a:lstStyle/>
                    <a:p>
                      <a:pPr algn="l"/>
                      <a:r>
                        <a:rPr sz="1100" b="0">
                          <a:solidFill>
                            <a:srgbClr val="1A1A2E"/>
                          </a:solidFill>
                        </a:rPr>
                        <a:t>edges covered</a:t>
                      </a:r>
                    </a:p>
                  </a:txBody>
                  <a:tcPr/>
                </a:tc>
                <a:tc>
                  <a:txBody>
                    <a:bodyPr wrap="square"/>
                    <a:lstStyle/>
                    <a:p>
                      <a:pPr algn="ctr"/>
                      <a:r>
                        <a:rPr sz="1100" b="0">
                          <a:solidFill>
                            <a:srgbClr val="1A1A2E"/>
                          </a:solidFill>
                        </a:rPr>
                        <a:t>1243</a:t>
                      </a:r>
                    </a:p>
                  </a:txBody>
                  <a:tcPr/>
                </a:tc>
                <a:tc>
                  <a:txBody>
                    <a:bodyPr wrap="square"/>
                    <a:lstStyle/>
                    <a:p>
                      <a:pPr algn="ctr"/>
                      <a:r>
                        <a:rPr sz="1100" b="0">
                          <a:solidFill>
                            <a:srgbClr val="1A1A2E"/>
                          </a:solidFill>
                        </a:rPr>
                        <a:t>1133</a:t>
                      </a:r>
                    </a:p>
                  </a:txBody>
                  <a:tcPr/>
                </a:tc>
                <a:tc>
                  <a:txBody>
                    <a:bodyPr wrap="square"/>
                    <a:lstStyle/>
                    <a:p>
                      <a:pPr algn="ctr"/>
                      <a:r>
                        <a:rPr sz="1100" b="0">
                          <a:solidFill>
                            <a:srgbClr val="1A1A2E"/>
                          </a:solidFill>
                        </a:rPr>
                        <a:t>1308</a:t>
                      </a:r>
                    </a:p>
                  </a:txBody>
                  <a:tcPr/>
                </a:tc>
                <a:tc>
                  <a:txBody>
                    <a:bodyPr wrap="square"/>
                    <a:lstStyle/>
                    <a:p>
                      <a:pPr algn="ctr"/>
                      <a:r>
                        <a:rPr sz="1100" b="0">
                          <a:solidFill>
                            <a:srgbClr val="1A1A2E"/>
                          </a:solidFill>
                        </a:rPr>
                        <a:t>1068</a:t>
                      </a:r>
                    </a:p>
                  </a:txBody>
                  <a:tcPr/>
                </a:tc>
              </a:tr>
              <a:tr h="384048">
                <a:tc>
                  <a:txBody>
                    <a:bodyPr wrap="square"/>
                    <a:lstStyle/>
                    <a:p>
                      <a:pPr algn="l"/>
                      <a:r>
                        <a:rPr sz="1100" b="0">
                          <a:solidFill>
                            <a:srgbClr val="1A1A2E"/>
                          </a:solidFill>
                        </a:rPr>
                        <a:t>lines covered</a:t>
                      </a:r>
                    </a:p>
                  </a:txBody>
                  <a:tcPr>
                    <a:solidFill>
                      <a:srgbClr val="EEF2FF"/>
                    </a:solidFill>
                  </a:tcPr>
                </a:tc>
                <a:tc>
                  <a:txBody>
                    <a:bodyPr wrap="square"/>
                    <a:lstStyle/>
                    <a:p>
                      <a:pPr algn="ctr"/>
                      <a:r>
                        <a:rPr sz="1100" b="0">
                          <a:solidFill>
                            <a:srgbClr val="1A1A2E"/>
                          </a:solidFill>
                        </a:rPr>
                        <a:t>2530</a:t>
                      </a:r>
                    </a:p>
                  </a:txBody>
                  <a:tcPr>
                    <a:solidFill>
                      <a:srgbClr val="EEF2FF"/>
                    </a:solidFill>
                  </a:tcPr>
                </a:tc>
                <a:tc>
                  <a:txBody>
                    <a:bodyPr wrap="square"/>
                    <a:lstStyle/>
                    <a:p>
                      <a:pPr algn="ctr"/>
                      <a:r>
                        <a:rPr sz="1100" b="0">
                          <a:solidFill>
                            <a:srgbClr val="1A1A2E"/>
                          </a:solidFill>
                        </a:rPr>
                        <a:t>2385</a:t>
                      </a:r>
                    </a:p>
                  </a:txBody>
                  <a:tcPr>
                    <a:solidFill>
                      <a:srgbClr val="EEF2FF"/>
                    </a:solidFill>
                  </a:tcPr>
                </a:tc>
                <a:tc>
                  <a:txBody>
                    <a:bodyPr wrap="square"/>
                    <a:lstStyle/>
                    <a:p>
                      <a:pPr algn="ctr"/>
                      <a:r>
                        <a:rPr sz="1100" b="0">
                          <a:solidFill>
                            <a:srgbClr val="1A1A2E"/>
                          </a:solidFill>
                        </a:rPr>
                        <a:t>2661</a:t>
                      </a:r>
                    </a:p>
                  </a:txBody>
                  <a:tcPr>
                    <a:solidFill>
                      <a:srgbClr val="EEF2FF"/>
                    </a:solidFill>
                  </a:tcPr>
                </a:tc>
                <a:tc>
                  <a:txBody>
                    <a:bodyPr wrap="square"/>
                    <a:lstStyle/>
                    <a:p>
                      <a:pPr algn="ctr"/>
                      <a:r>
                        <a:rPr sz="1100" b="0">
                          <a:solidFill>
                            <a:srgbClr val="1A1A2E"/>
                          </a:solidFill>
                        </a:rPr>
                        <a:t>2254</a:t>
                      </a:r>
                    </a:p>
                  </a:txBody>
                  <a:tcPr>
                    <a:solidFill>
                      <a:srgbClr val="EEF2FF"/>
                    </a:solidFill>
                  </a:tcPr>
                </a:tc>
              </a:tr>
              <a:tr h="384048">
                <a:tc>
                  <a:txBody>
                    <a:bodyPr wrap="square"/>
                    <a:lstStyle/>
                    <a:p>
                      <a:pPr algn="l"/>
                      <a:r>
                        <a:rPr sz="1100" b="0">
                          <a:solidFill>
                            <a:srgbClr val="1A1A2E"/>
                          </a:solidFill>
                        </a:rPr>
                        <a:t>edges ONLY in this cell</a:t>
                      </a:r>
                    </a:p>
                  </a:txBody>
                  <a:tcPr/>
                </a:tc>
                <a:tc>
                  <a:txBody>
                    <a:bodyPr wrap="square"/>
                    <a:lstStyle/>
                    <a:p>
                      <a:pPr algn="ctr"/>
                      <a:r>
                        <a:rPr sz="1100" b="0">
                          <a:solidFill>
                            <a:srgbClr val="1A1A2E"/>
                          </a:solidFill>
                        </a:rPr>
                        <a:t>175</a:t>
                      </a:r>
                    </a:p>
                  </a:txBody>
                  <a:tcPr/>
                </a:tc>
                <a:tc>
                  <a:txBody>
                    <a:bodyPr wrap="square"/>
                    <a:lstStyle/>
                    <a:p>
                      <a:pPr algn="ctr"/>
                      <a:r>
                        <a:rPr sz="1100" b="0">
                          <a:solidFill>
                            <a:srgbClr val="1A1A2E"/>
                          </a:solidFill>
                        </a:rPr>
                        <a:t>65</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r>
              <a:tr h="384048">
                <a:tc>
                  <a:txBody>
                    <a:bodyPr wrap="square"/>
                    <a:lstStyle/>
                    <a:p>
                      <a:pPr algn="l"/>
                      <a:r>
                        <a:rPr sz="1100" b="0">
                          <a:solidFill>
                            <a:srgbClr val="1A1A2E"/>
                          </a:solidFill>
                        </a:rPr>
                        <a:t>Jaccard (edges)</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0.817</a:t>
                      </a:r>
                    </a:p>
                  </a:txBody>
                  <a:tcPr>
                    <a:solidFill>
                      <a:srgbClr val="EEF2FF"/>
                    </a:solidFill>
                  </a:tcPr>
                </a:tc>
                <a:tc>
                  <a:txBody>
                    <a:bodyPr wrap="square"/>
                    <a:lstStyle/>
                    <a:p>
                      <a:pPr algn="ctr"/>
                      <a:r>
                        <a:rPr sz="1100" b="0">
                          <a:solidFill>
                            <a:srgbClr val="1A1A2E"/>
                          </a:solidFill>
                        </a:rPr>
                        <a:t>—</a:t>
                      </a:r>
                    </a:p>
                  </a:txBody>
                  <a:tcPr>
                    <a:solidFill>
                      <a:srgbClr val="EEF2FF"/>
                    </a:solidFill>
                  </a:tcPr>
                </a:tc>
              </a:tr>
            </a:tbl>
          </a:graphicData>
        </a:graphic>
      </p:graphicFrame>
      <p:sp>
        <p:nvSpPr>
          <p:cNvPr id="6" name="Rectangle 5"/>
          <p:cNvSpPr/>
          <p:nvPr/>
        </p:nvSpPr>
        <p:spPr>
          <a:xfrm>
            <a:off x="502920" y="3904488"/>
            <a:ext cx="2705023" cy="10058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995928"/>
            <a:ext cx="2613583" cy="502920"/>
          </a:xfrm>
          <a:prstGeom prst="rect">
            <a:avLst/>
          </a:prstGeom>
          <a:noFill/>
        </p:spPr>
        <p:txBody>
          <a:bodyPr wrap="square">
            <a:spAutoFit/>
          </a:bodyPr>
          <a:lstStyle/>
          <a:p>
            <a:pPr algn="ctr"/>
            <a:r>
              <a:rPr sz="2200" b="1" i="0">
                <a:solidFill>
                  <a:srgbClr val="1E2761"/>
                </a:solidFill>
              </a:rPr>
              <a:t>~3×</a:t>
            </a:r>
          </a:p>
        </p:txBody>
      </p:sp>
      <p:sp>
        <p:nvSpPr>
          <p:cNvPr id="8" name="TextBox 7"/>
          <p:cNvSpPr txBox="1"/>
          <p:nvPr/>
        </p:nvSpPr>
        <p:spPr>
          <a:xfrm>
            <a:off x="548640" y="4517136"/>
            <a:ext cx="2613583" cy="365760"/>
          </a:xfrm>
          <a:prstGeom prst="rect">
            <a:avLst/>
          </a:prstGeom>
          <a:noFill/>
        </p:spPr>
        <p:txBody>
          <a:bodyPr wrap="square">
            <a:spAutoFit/>
          </a:bodyPr>
          <a:lstStyle/>
          <a:p>
            <a:pPr algn="ctr"/>
            <a:r>
              <a:rPr sz="1000" b="0" i="0">
                <a:solidFill>
                  <a:srgbClr val="556080"/>
                </a:solidFill>
              </a:rPr>
              <a:t>coverage tripled vs bytes run</a:t>
            </a:r>
          </a:p>
        </p:txBody>
      </p:sp>
      <p:sp>
        <p:nvSpPr>
          <p:cNvPr id="9" name="Rectangle 8"/>
          <p:cNvSpPr/>
          <p:nvPr/>
        </p:nvSpPr>
        <p:spPr>
          <a:xfrm>
            <a:off x="3299383" y="3904488"/>
            <a:ext cx="2705023" cy="10058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5103" y="3995928"/>
            <a:ext cx="2613583" cy="502920"/>
          </a:xfrm>
          <a:prstGeom prst="rect">
            <a:avLst/>
          </a:prstGeom>
          <a:noFill/>
        </p:spPr>
        <p:txBody>
          <a:bodyPr wrap="square">
            <a:spAutoFit/>
          </a:bodyPr>
          <a:lstStyle/>
          <a:p>
            <a:pPr algn="ctr"/>
            <a:r>
              <a:rPr sz="2200" b="1" i="0">
                <a:solidFill>
                  <a:srgbClr val="1E2761"/>
                </a:solidFill>
              </a:rPr>
              <a:t>5/6 → 1/6</a:t>
            </a:r>
          </a:p>
        </p:txBody>
      </p:sp>
      <p:sp>
        <p:nvSpPr>
          <p:cNvPr id="11" name="TextBox 10"/>
          <p:cNvSpPr txBox="1"/>
          <p:nvPr/>
        </p:nvSpPr>
        <p:spPr>
          <a:xfrm>
            <a:off x="3345103" y="4517136"/>
            <a:ext cx="2613583" cy="365760"/>
          </a:xfrm>
          <a:prstGeom prst="rect">
            <a:avLst/>
          </a:prstGeom>
          <a:noFill/>
        </p:spPr>
        <p:txBody>
          <a:bodyPr wrap="square">
            <a:spAutoFit/>
          </a:bodyPr>
          <a:lstStyle/>
          <a:p>
            <a:pPr algn="ctr"/>
            <a:r>
              <a:rPr sz="1000" b="0" i="0">
                <a:solidFill>
                  <a:srgbClr val="556080"/>
                </a:solidFill>
              </a:rPr>
              <a:t>loop-abort rate, −80%</a:t>
            </a:r>
          </a:p>
        </p:txBody>
      </p:sp>
      <p:sp>
        <p:nvSpPr>
          <p:cNvPr id="12" name="Rectangle 11"/>
          <p:cNvSpPr/>
          <p:nvPr/>
        </p:nvSpPr>
        <p:spPr>
          <a:xfrm>
            <a:off x="6095847" y="3904488"/>
            <a:ext cx="2705023" cy="10058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41567" y="3995928"/>
            <a:ext cx="2613583" cy="502920"/>
          </a:xfrm>
          <a:prstGeom prst="rect">
            <a:avLst/>
          </a:prstGeom>
          <a:noFill/>
        </p:spPr>
        <p:txBody>
          <a:bodyPr wrap="square">
            <a:spAutoFit/>
          </a:bodyPr>
          <a:lstStyle/>
          <a:p>
            <a:pPr algn="ctr"/>
            <a:r>
              <a:rPr sz="2200" b="1" i="0">
                <a:solidFill>
                  <a:srgbClr val="1E2761"/>
                </a:solidFill>
              </a:rPr>
              <a:t>+110 edges</a:t>
            </a:r>
          </a:p>
        </p:txBody>
      </p:sp>
      <p:sp>
        <p:nvSpPr>
          <p:cNvPr id="14" name="TextBox 13"/>
          <p:cNvSpPr txBox="1"/>
          <p:nvPr/>
        </p:nvSpPr>
        <p:spPr>
          <a:xfrm>
            <a:off x="6141567" y="4517136"/>
            <a:ext cx="2613583" cy="365760"/>
          </a:xfrm>
          <a:prstGeom prst="rect">
            <a:avLst/>
          </a:prstGeom>
          <a:noFill/>
        </p:spPr>
        <p:txBody>
          <a:bodyPr wrap="square">
            <a:spAutoFit/>
          </a:bodyPr>
          <a:lstStyle/>
          <a:p>
            <a:pPr algn="ctr"/>
            <a:r>
              <a:rPr sz="1000" b="0" i="0">
                <a:solidFill>
                  <a:srgbClr val="556080"/>
                </a:solidFill>
              </a:rPr>
              <a:t>exp1 over exp2
(in-distribution)</a:t>
            </a:r>
          </a:p>
        </p:txBody>
      </p:sp>
      <p:sp>
        <p:nvSpPr>
          <p:cNvPr id="15" name="Rectangle 14"/>
          <p:cNvSpPr/>
          <p:nvPr/>
        </p:nvSpPr>
        <p:spPr>
          <a:xfrm>
            <a:off x="8892311" y="3904488"/>
            <a:ext cx="2705023" cy="100584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38031" y="3995928"/>
            <a:ext cx="2613583" cy="502920"/>
          </a:xfrm>
          <a:prstGeom prst="rect">
            <a:avLst/>
          </a:prstGeom>
          <a:noFill/>
        </p:spPr>
        <p:txBody>
          <a:bodyPr wrap="square">
            <a:spAutoFit/>
          </a:bodyPr>
          <a:lstStyle/>
          <a:p>
            <a:pPr algn="ctr"/>
            <a:r>
              <a:rPr sz="2200" b="1" i="0">
                <a:solidFill>
                  <a:srgbClr val="1E2761"/>
                </a:solidFill>
              </a:rPr>
              <a:t>175 vs 65</a:t>
            </a:r>
          </a:p>
        </p:txBody>
      </p:sp>
      <p:sp>
        <p:nvSpPr>
          <p:cNvPr id="17" name="TextBox 16"/>
          <p:cNvSpPr txBox="1"/>
          <p:nvPr/>
        </p:nvSpPr>
        <p:spPr>
          <a:xfrm>
            <a:off x="8938031" y="4517136"/>
            <a:ext cx="2613583" cy="365760"/>
          </a:xfrm>
          <a:prstGeom prst="rect">
            <a:avLst/>
          </a:prstGeom>
          <a:noFill/>
        </p:spPr>
        <p:txBody>
          <a:bodyPr wrap="square">
            <a:spAutoFit/>
          </a:bodyPr>
          <a:lstStyle/>
          <a:p>
            <a:pPr algn="ctr"/>
            <a:r>
              <a:rPr sz="1000" b="0" i="0">
                <a:solidFill>
                  <a:srgbClr val="556080"/>
                </a:solidFill>
              </a:rPr>
              <a:t>exp1 vs exp2
exclusive edges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Bytes vs Regex — What the Rewrite Actually Changed</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Format-matching is the single biggest lift in this experiment</a:t>
            </a:r>
          </a:p>
        </p:txBody>
      </p:sp>
      <p:graphicFrame>
        <p:nvGraphicFramePr>
          <p:cNvPr id="5" name="Table 4"/>
          <p:cNvGraphicFramePr>
            <a:graphicFrameLocks noGrp="1"/>
          </p:cNvGraphicFramePr>
          <p:nvPr/>
        </p:nvGraphicFramePr>
        <p:xfrm>
          <a:off x="502920" y="1051560"/>
          <a:ext cx="9784080" cy="3456432"/>
        </p:xfrm>
        <a:graphic>
          <a:graphicData uri="http://schemas.openxmlformats.org/drawingml/2006/table">
            <a:tbl>
              <a:tblPr firstRow="1" bandRow="1">
                <a:tableStyleId>{5C22544A-7EE6-4342-B048-85BDC9FD1C3A}</a:tableStyleId>
              </a:tblPr>
              <a:tblGrid>
                <a:gridCol w="2926080"/>
                <a:gridCol w="2011680"/>
                <a:gridCol w="2011680"/>
                <a:gridCol w="2834640"/>
              </a:tblGrid>
              <a:tr h="384048">
                <a:tc>
                  <a:txBody>
                    <a:bodyPr wrap="square"/>
                    <a:lstStyle/>
                    <a:p>
                      <a:pPr algn="l"/>
                      <a:r>
                        <a:rPr sz="1100" b="1">
                          <a:solidFill>
                            <a:srgbClr val="FFFFFF"/>
                          </a:solidFill>
                        </a:rPr>
                        <a:t>metric</a:t>
                      </a:r>
                    </a:p>
                  </a:txBody>
                  <a:tcPr>
                    <a:solidFill>
                      <a:srgbClr val="354A9E"/>
                    </a:solidFill>
                  </a:tcPr>
                </a:tc>
                <a:tc>
                  <a:txBody>
                    <a:bodyPr wrap="square"/>
                    <a:lstStyle/>
                    <a:p>
                      <a:pPr algn="ctr"/>
                      <a:r>
                        <a:rPr sz="1100" b="1">
                          <a:solidFill>
                            <a:srgbClr val="FFFFFF"/>
                          </a:solidFill>
                        </a:rPr>
                        <a:t>bytes (04-12)</a:t>
                      </a:r>
                    </a:p>
                  </a:txBody>
                  <a:tcPr>
                    <a:solidFill>
                      <a:srgbClr val="354A9E"/>
                    </a:solidFill>
                  </a:tcPr>
                </a:tc>
                <a:tc>
                  <a:txBody>
                    <a:bodyPr wrap="square"/>
                    <a:lstStyle/>
                    <a:p>
                      <a:pPr algn="ctr"/>
                      <a:r>
                        <a:rPr sz="1100" b="1">
                          <a:solidFill>
                            <a:srgbClr val="FFFFFF"/>
                          </a:solidFill>
                        </a:rPr>
                        <a:t>regex (04-13)</a:t>
                      </a:r>
                    </a:p>
                  </a:txBody>
                  <a:tcPr>
                    <a:solidFill>
                      <a:srgbClr val="354A9E"/>
                    </a:solidFill>
                  </a:tcPr>
                </a:tc>
                <a:tc>
                  <a:txBody>
                    <a:bodyPr wrap="square"/>
                    <a:lstStyle/>
                    <a:p>
                      <a:pPr algn="ctr"/>
                      <a:r>
                        <a:rPr sz="1100" b="1">
                          <a:solidFill>
                            <a:srgbClr val="FFFFFF"/>
                          </a:solidFill>
                        </a:rPr>
                        <a:t>change</a:t>
                      </a:r>
                    </a:p>
                  </a:txBody>
                  <a:tcPr>
                    <a:solidFill>
                      <a:srgbClr val="354A9E"/>
                    </a:solidFill>
                  </a:tcPr>
                </a:tc>
              </a:tr>
              <a:tr h="384048">
                <a:tc>
                  <a:txBody>
                    <a:bodyPr wrap="square"/>
                    <a:lstStyle/>
                    <a:p>
                      <a:pPr algn="l"/>
                      <a:r>
                        <a:rPr sz="1100" b="0">
                          <a:solidFill>
                            <a:srgbClr val="1A1A2E"/>
                          </a:solidFill>
                        </a:rPr>
                        <a:t>exp1 seeds</a:t>
                      </a:r>
                    </a:p>
                  </a:txBody>
                  <a:tcPr/>
                </a:tc>
                <a:tc>
                  <a:txBody>
                    <a:bodyPr wrap="square"/>
                    <a:lstStyle/>
                    <a:p>
                      <a:pPr algn="ctr"/>
                      <a:r>
                        <a:rPr sz="1100" b="0">
                          <a:solidFill>
                            <a:srgbClr val="1A1A2E"/>
                          </a:solidFill>
                        </a:rPr>
                        <a:t>5</a:t>
                      </a:r>
                    </a:p>
                  </a:txBody>
                  <a:tcPr/>
                </a:tc>
                <a:tc>
                  <a:txBody>
                    <a:bodyPr wrap="square"/>
                    <a:lstStyle/>
                    <a:p>
                      <a:pPr algn="ctr"/>
                      <a:r>
                        <a:rPr sz="1100" b="0">
                          <a:solidFill>
                            <a:srgbClr val="1A1A2E"/>
                          </a:solidFill>
                        </a:rPr>
                        <a:t>20</a:t>
                      </a:r>
                    </a:p>
                  </a:txBody>
                  <a:tcPr/>
                </a:tc>
                <a:tc>
                  <a:txBody>
                    <a:bodyPr wrap="square"/>
                    <a:lstStyle/>
                    <a:p>
                      <a:pPr algn="ctr"/>
                      <a:r>
                        <a:rPr sz="1100" b="0">
                          <a:solidFill>
                            <a:srgbClr val="1A1A2E"/>
                          </a:solidFill>
                        </a:rPr>
                        <a:t>+4×</a:t>
                      </a:r>
                    </a:p>
                  </a:txBody>
                  <a:tcPr/>
                </a:tc>
              </a:tr>
              <a:tr h="384048">
                <a:tc>
                  <a:txBody>
                    <a:bodyPr wrap="square"/>
                    <a:lstStyle/>
                    <a:p>
                      <a:pPr algn="l"/>
                      <a:r>
                        <a:rPr sz="1100" b="0">
                          <a:solidFill>
                            <a:srgbClr val="1A1A2E"/>
                          </a:solidFill>
                        </a:rPr>
                        <a:t>exp2 seeds</a:t>
                      </a:r>
                    </a:p>
                  </a:txBody>
                  <a:tcPr>
                    <a:solidFill>
                      <a:srgbClr val="EEF2FF"/>
                    </a:solidFill>
                  </a:tcPr>
                </a:tc>
                <a:tc>
                  <a:txBody>
                    <a:bodyPr wrap="square"/>
                    <a:lstStyle/>
                    <a:p>
                      <a:pPr algn="ctr"/>
                      <a:r>
                        <a:rPr sz="1100" b="0">
                          <a:solidFill>
                            <a:srgbClr val="1A1A2E"/>
                          </a:solidFill>
                        </a:rPr>
                        <a:t>10</a:t>
                      </a:r>
                    </a:p>
                  </a:txBody>
                  <a:tcPr>
                    <a:solidFill>
                      <a:srgbClr val="EEF2FF"/>
                    </a:solidFill>
                  </a:tcPr>
                </a:tc>
                <a:tc>
                  <a:txBody>
                    <a:bodyPr wrap="square"/>
                    <a:lstStyle/>
                    <a:p>
                      <a:pPr algn="ctr"/>
                      <a:r>
                        <a:rPr sz="1100" b="0">
                          <a:solidFill>
                            <a:srgbClr val="1A1A2E"/>
                          </a:solidFill>
                        </a:rPr>
                        <a:t>30</a:t>
                      </a:r>
                    </a:p>
                  </a:txBody>
                  <a:tcPr>
                    <a:solidFill>
                      <a:srgbClr val="EEF2FF"/>
                    </a:solidFill>
                  </a:tcPr>
                </a:tc>
                <a:tc>
                  <a:txBody>
                    <a:bodyPr wrap="square"/>
                    <a:lstStyle/>
                    <a:p>
                      <a:pPr algn="ctr"/>
                      <a:r>
                        <a:rPr sz="1100" b="0">
                          <a:solidFill>
                            <a:srgbClr val="1A1A2E"/>
                          </a:solidFill>
                        </a:rPr>
                        <a:t>+3×</a:t>
                      </a:r>
                    </a:p>
                  </a:txBody>
                  <a:tcPr>
                    <a:solidFill>
                      <a:srgbClr val="EEF2FF"/>
                    </a:solidFill>
                  </a:tcPr>
                </a:tc>
              </a:tr>
              <a:tr h="384048">
                <a:tc>
                  <a:txBody>
                    <a:bodyPr wrap="square"/>
                    <a:lstStyle/>
                    <a:p>
                      <a:pPr algn="l"/>
                      <a:r>
                        <a:rPr sz="1100" b="0">
                          <a:solidFill>
                            <a:srgbClr val="1A1A2E"/>
                          </a:solidFill>
                        </a:rPr>
                        <a:t>exp1 edges</a:t>
                      </a:r>
                    </a:p>
                  </a:txBody>
                  <a:tcPr/>
                </a:tc>
                <a:tc>
                  <a:txBody>
                    <a:bodyPr wrap="square"/>
                    <a:lstStyle/>
                    <a:p>
                      <a:pPr algn="ctr"/>
                      <a:r>
                        <a:rPr sz="1100" b="0">
                          <a:solidFill>
                            <a:srgbClr val="1A1A2E"/>
                          </a:solidFill>
                        </a:rPr>
                        <a:t>475</a:t>
                      </a:r>
                    </a:p>
                  </a:txBody>
                  <a:tcPr/>
                </a:tc>
                <a:tc>
                  <a:txBody>
                    <a:bodyPr wrap="square"/>
                    <a:lstStyle/>
                    <a:p>
                      <a:pPr algn="ctr"/>
                      <a:r>
                        <a:rPr sz="1100" b="0">
                          <a:solidFill>
                            <a:srgbClr val="1A1A2E"/>
                          </a:solidFill>
                        </a:rPr>
                        <a:t>1243</a:t>
                      </a:r>
                    </a:p>
                  </a:txBody>
                  <a:tcPr/>
                </a:tc>
                <a:tc>
                  <a:txBody>
                    <a:bodyPr wrap="square"/>
                    <a:lstStyle/>
                    <a:p>
                      <a:pPr algn="ctr"/>
                      <a:r>
                        <a:rPr sz="1100" b="0">
                          <a:solidFill>
                            <a:srgbClr val="1A1A2E"/>
                          </a:solidFill>
                        </a:rPr>
                        <a:t>+2.6×</a:t>
                      </a:r>
                    </a:p>
                  </a:txBody>
                  <a:tcPr/>
                </a:tc>
              </a:tr>
              <a:tr h="384048">
                <a:tc>
                  <a:txBody>
                    <a:bodyPr wrap="square"/>
                    <a:lstStyle/>
                    <a:p>
                      <a:pPr algn="l"/>
                      <a:r>
                        <a:rPr sz="1100" b="0">
                          <a:solidFill>
                            <a:srgbClr val="1A1A2E"/>
                          </a:solidFill>
                        </a:rPr>
                        <a:t>exp2 edges</a:t>
                      </a:r>
                    </a:p>
                  </a:txBody>
                  <a:tcPr>
                    <a:solidFill>
                      <a:srgbClr val="EEF2FF"/>
                    </a:solidFill>
                  </a:tcPr>
                </a:tc>
                <a:tc>
                  <a:txBody>
                    <a:bodyPr wrap="square"/>
                    <a:lstStyle/>
                    <a:p>
                      <a:pPr algn="ctr"/>
                      <a:r>
                        <a:rPr sz="1100" b="0">
                          <a:solidFill>
                            <a:srgbClr val="1A1A2E"/>
                          </a:solidFill>
                        </a:rPr>
                        <a:t>513</a:t>
                      </a:r>
                    </a:p>
                  </a:txBody>
                  <a:tcPr>
                    <a:solidFill>
                      <a:srgbClr val="EEF2FF"/>
                    </a:solidFill>
                  </a:tcPr>
                </a:tc>
                <a:tc>
                  <a:txBody>
                    <a:bodyPr wrap="square"/>
                    <a:lstStyle/>
                    <a:p>
                      <a:pPr algn="ctr"/>
                      <a:r>
                        <a:rPr sz="1100" b="0">
                          <a:solidFill>
                            <a:srgbClr val="1A1A2E"/>
                          </a:solidFill>
                        </a:rPr>
                        <a:t>1133</a:t>
                      </a:r>
                    </a:p>
                  </a:txBody>
                  <a:tcPr>
                    <a:solidFill>
                      <a:srgbClr val="EEF2FF"/>
                    </a:solidFill>
                  </a:tcPr>
                </a:tc>
                <a:tc>
                  <a:txBody>
                    <a:bodyPr wrap="square"/>
                    <a:lstStyle/>
                    <a:p>
                      <a:pPr algn="ctr"/>
                      <a:r>
                        <a:rPr sz="1100" b="0">
                          <a:solidFill>
                            <a:srgbClr val="1A1A2E"/>
                          </a:solidFill>
                        </a:rPr>
                        <a:t>+2.2×</a:t>
                      </a:r>
                    </a:p>
                  </a:txBody>
                  <a:tcPr>
                    <a:solidFill>
                      <a:srgbClr val="EEF2FF"/>
                    </a:solidFill>
                  </a:tcPr>
                </a:tc>
              </a:tr>
              <a:tr h="384048">
                <a:tc>
                  <a:txBody>
                    <a:bodyPr wrap="square"/>
                    <a:lstStyle/>
                    <a:p>
                      <a:pPr algn="l"/>
                      <a:r>
                        <a:rPr sz="1100" b="0">
                          <a:solidFill>
                            <a:srgbClr val="1A1A2E"/>
                          </a:solidFill>
                        </a:rPr>
                        <a:t>exp1 exclusive edges</a:t>
                      </a:r>
                    </a:p>
                  </a:txBody>
                  <a:tcPr/>
                </a:tc>
                <a:tc>
                  <a:txBody>
                    <a:bodyPr wrap="square"/>
                    <a:lstStyle/>
                    <a:p>
                      <a:pPr algn="ctr"/>
                      <a:r>
                        <a:rPr sz="1100" b="0">
                          <a:solidFill>
                            <a:srgbClr val="1A1A2E"/>
                          </a:solidFill>
                        </a:rPr>
                        <a:t>17</a:t>
                      </a:r>
                    </a:p>
                  </a:txBody>
                  <a:tcPr/>
                </a:tc>
                <a:tc>
                  <a:txBody>
                    <a:bodyPr wrap="square"/>
                    <a:lstStyle/>
                    <a:p>
                      <a:pPr algn="ctr"/>
                      <a:r>
                        <a:rPr sz="1100" b="0">
                          <a:solidFill>
                            <a:srgbClr val="1A1A2E"/>
                          </a:solidFill>
                        </a:rPr>
                        <a:t>175</a:t>
                      </a:r>
                    </a:p>
                  </a:txBody>
                  <a:tcPr/>
                </a:tc>
                <a:tc>
                  <a:txBody>
                    <a:bodyPr wrap="square"/>
                    <a:lstStyle/>
                    <a:p>
                      <a:pPr algn="ctr"/>
                      <a:r>
                        <a:rPr sz="1100" b="0">
                          <a:solidFill>
                            <a:srgbClr val="1A1A2E"/>
                          </a:solidFill>
                        </a:rPr>
                        <a:t>+10×</a:t>
                      </a:r>
                    </a:p>
                  </a:txBody>
                  <a:tcPr/>
                </a:tc>
              </a:tr>
              <a:tr h="384048">
                <a:tc>
                  <a:txBody>
                    <a:bodyPr wrap="square"/>
                    <a:lstStyle/>
                    <a:p>
                      <a:pPr algn="l"/>
                      <a:r>
                        <a:rPr sz="1100" b="0">
                          <a:solidFill>
                            <a:srgbClr val="1A1A2E"/>
                          </a:solidFill>
                        </a:rPr>
                        <a:t>exp2 exclusive edges</a:t>
                      </a:r>
                    </a:p>
                  </a:txBody>
                  <a:tcPr>
                    <a:solidFill>
                      <a:srgbClr val="EEF2FF"/>
                    </a:solidFill>
                  </a:tcPr>
                </a:tc>
                <a:tc>
                  <a:txBody>
                    <a:bodyPr wrap="square"/>
                    <a:lstStyle/>
                    <a:p>
                      <a:pPr algn="ctr"/>
                      <a:r>
                        <a:rPr sz="1100" b="0">
                          <a:solidFill>
                            <a:srgbClr val="1A1A2E"/>
                          </a:solidFill>
                        </a:rPr>
                        <a:t>55</a:t>
                      </a:r>
                    </a:p>
                  </a:txBody>
                  <a:tcPr>
                    <a:solidFill>
                      <a:srgbClr val="EEF2FF"/>
                    </a:solidFill>
                  </a:tcPr>
                </a:tc>
                <a:tc>
                  <a:txBody>
                    <a:bodyPr wrap="square"/>
                    <a:lstStyle/>
                    <a:p>
                      <a:pPr algn="ctr"/>
                      <a:r>
                        <a:rPr sz="1100" b="0">
                          <a:solidFill>
                            <a:srgbClr val="1A1A2E"/>
                          </a:solidFill>
                        </a:rPr>
                        <a:t>65</a:t>
                      </a:r>
                    </a:p>
                  </a:txBody>
                  <a:tcPr>
                    <a:solidFill>
                      <a:srgbClr val="EEF2FF"/>
                    </a:solidFill>
                  </a:tcPr>
                </a:tc>
                <a:tc>
                  <a:txBody>
                    <a:bodyPr wrap="square"/>
                    <a:lstStyle/>
                    <a:p>
                      <a:pPr algn="ctr"/>
                      <a:r>
                        <a:rPr sz="1100" b="0">
                          <a:solidFill>
                            <a:srgbClr val="1A1A2E"/>
                          </a:solidFill>
                        </a:rPr>
                        <a:t>+1.2×</a:t>
                      </a:r>
                    </a:p>
                  </a:txBody>
                  <a:tcPr>
                    <a:solidFill>
                      <a:srgbClr val="EEF2FF"/>
                    </a:solidFill>
                  </a:tcPr>
                </a:tc>
              </a:tr>
              <a:tr h="384048">
                <a:tc>
                  <a:txBody>
                    <a:bodyPr wrap="square"/>
                    <a:lstStyle/>
                    <a:p>
                      <a:pPr algn="l"/>
                      <a:r>
                        <a:rPr sz="1100" b="0">
                          <a:solidFill>
                            <a:srgbClr val="1A1A2E"/>
                          </a:solidFill>
                        </a:rPr>
                        <a:t>loop-aborted samples</a:t>
                      </a:r>
                    </a:p>
                  </a:txBody>
                  <a:tcPr/>
                </a:tc>
                <a:tc>
                  <a:txBody>
                    <a:bodyPr wrap="square"/>
                    <a:lstStyle/>
                    <a:p>
                      <a:pPr algn="ctr"/>
                      <a:r>
                        <a:rPr sz="1100" b="0">
                          <a:solidFill>
                            <a:srgbClr val="1A1A2E"/>
                          </a:solidFill>
                        </a:rPr>
                        <a:t>5/6</a:t>
                      </a:r>
                    </a:p>
                  </a:txBody>
                  <a:tcPr/>
                </a:tc>
                <a:tc>
                  <a:txBody>
                    <a:bodyPr wrap="square"/>
                    <a:lstStyle/>
                    <a:p>
                      <a:pPr algn="ctr"/>
                      <a:r>
                        <a:rPr sz="1100" b="0">
                          <a:solidFill>
                            <a:srgbClr val="1A1A2E"/>
                          </a:solidFill>
                        </a:rPr>
                        <a:t>1/6</a:t>
                      </a:r>
                    </a:p>
                  </a:txBody>
                  <a:tcPr/>
                </a:tc>
                <a:tc>
                  <a:txBody>
                    <a:bodyPr wrap="square"/>
                    <a:lstStyle/>
                    <a:p>
                      <a:pPr algn="ctr"/>
                      <a:r>
                        <a:rPr sz="1100" b="0">
                          <a:solidFill>
                            <a:srgbClr val="1A1A2E"/>
                          </a:solidFill>
                        </a:rPr>
                        <a:t>−80%</a:t>
                      </a:r>
                    </a:p>
                  </a:txBody>
                  <a:tcPr/>
                </a:tc>
              </a:tr>
              <a:tr h="384048">
                <a:tc>
                  <a:txBody>
                    <a:bodyPr wrap="square"/>
                    <a:lstStyle/>
                    <a:p>
                      <a:pPr algn="l"/>
                      <a:r>
                        <a:rPr sz="1100" b="0">
                          <a:solidFill>
                            <a:srgbClr val="1A1A2E"/>
                          </a:solidFill>
                        </a:rPr>
                        <a:t>headline winner</a:t>
                      </a:r>
                    </a:p>
                  </a:txBody>
                  <a:tcPr>
                    <a:solidFill>
                      <a:srgbClr val="EEF2FF"/>
                    </a:solidFill>
                  </a:tcPr>
                </a:tc>
                <a:tc>
                  <a:txBody>
                    <a:bodyPr wrap="square"/>
                    <a:lstStyle/>
                    <a:p>
                      <a:pPr algn="ctr"/>
                      <a:r>
                        <a:rPr sz="1100" b="0">
                          <a:solidFill>
                            <a:srgbClr val="1A1A2E"/>
                          </a:solidFill>
                        </a:rPr>
                        <a:t>exp2 (+38)</a:t>
                      </a:r>
                    </a:p>
                  </a:txBody>
                  <a:tcPr>
                    <a:solidFill>
                      <a:srgbClr val="EEF2FF"/>
                    </a:solidFill>
                  </a:tcPr>
                </a:tc>
                <a:tc>
                  <a:txBody>
                    <a:bodyPr wrap="square"/>
                    <a:lstStyle/>
                    <a:p>
                      <a:pPr algn="ctr"/>
                      <a:r>
                        <a:rPr sz="1100" b="0">
                          <a:solidFill>
                            <a:srgbClr val="1A1A2E"/>
                          </a:solidFill>
                        </a:rPr>
                        <a:t>exp1 (+110)</a:t>
                      </a:r>
                    </a:p>
                  </a:txBody>
                  <a:tcPr>
                    <a:solidFill>
                      <a:srgbClr val="EEF2FF"/>
                    </a:solidFill>
                  </a:tcPr>
                </a:tc>
                <a:tc>
                  <a:txBody>
                    <a:bodyPr wrap="square"/>
                    <a:lstStyle/>
                    <a:p>
                      <a:pPr algn="ctr"/>
                      <a:r>
                        <a:rPr sz="1100" b="0">
                          <a:solidFill>
                            <a:srgbClr val="1A1A2E"/>
                          </a:solidFill>
                        </a:rPr>
                        <a:t>flipped</a:t>
                      </a:r>
                    </a:p>
                  </a:txBody>
                  <a:tcPr>
                    <a:solidFill>
                      <a:srgbClr val="EEF2FF"/>
                    </a:solidFill>
                  </a:tcPr>
                </a:tc>
              </a:tr>
            </a:tbl>
          </a:graphicData>
        </a:graphic>
      </p:graphicFrame>
      <p:sp>
        <p:nvSpPr>
          <p:cNvPr id="6" name="Rectangle 5"/>
          <p:cNvSpPr/>
          <p:nvPr/>
        </p:nvSpPr>
        <p:spPr>
          <a:xfrm>
            <a:off x="502920" y="4736592"/>
            <a:ext cx="11185855" cy="4572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828032"/>
            <a:ext cx="10911535" cy="320040"/>
          </a:xfrm>
          <a:prstGeom prst="rect">
            <a:avLst/>
          </a:prstGeom>
          <a:noFill/>
        </p:spPr>
        <p:txBody>
          <a:bodyPr wrap="square">
            <a:spAutoFit/>
          </a:bodyPr>
          <a:lstStyle/>
          <a:p>
            <a:pPr algn="l"/>
            <a:r>
              <a:rPr sz="1200" b="0" i="0">
                <a:solidFill>
                  <a:srgbClr val="1E2761"/>
                </a:solidFill>
              </a:rPr>
              <a:t>The headline winner flipped because the bytes run was a format-mismatch artefact — not a signal about exp1 vs exp2. The regex run is the trustworthy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Where exp1 Wins Uniquely — Regex Run</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175 edges reached by exp1 that exp2 misses; concentrated in parser / simplifier</a:t>
            </a:r>
          </a:p>
        </p:txBody>
      </p:sp>
      <p:graphicFrame>
        <p:nvGraphicFramePr>
          <p:cNvPr id="5" name="Table 4"/>
          <p:cNvGraphicFramePr>
            <a:graphicFrameLocks noGrp="1"/>
          </p:cNvGraphicFramePr>
          <p:nvPr/>
        </p:nvGraphicFramePr>
        <p:xfrm>
          <a:off x="502920" y="1051560"/>
          <a:ext cx="4023360" cy="3538728"/>
        </p:xfrm>
        <a:graphic>
          <a:graphicData uri="http://schemas.openxmlformats.org/drawingml/2006/table">
            <a:tbl>
              <a:tblPr firstRow="1" bandRow="1">
                <a:tableStyleId>{5C22544A-7EE6-4342-B048-85BDC9FD1C3A}</a:tableStyleId>
              </a:tblPr>
              <a:tblGrid>
                <a:gridCol w="2377440"/>
                <a:gridCol w="1645920"/>
              </a:tblGrid>
              <a:tr h="393192">
                <a:tc>
                  <a:txBody>
                    <a:bodyPr wrap="square"/>
                    <a:lstStyle/>
                    <a:p>
                      <a:pPr algn="l"/>
                      <a:r>
                        <a:rPr sz="1100" b="1">
                          <a:solidFill>
                            <a:srgbClr val="FFFFFF"/>
                          </a:solidFill>
                        </a:rPr>
                        <a:t>file</a:t>
                      </a:r>
                    </a:p>
                  </a:txBody>
                  <a:tcPr>
                    <a:solidFill>
                      <a:srgbClr val="354A9E"/>
                    </a:solidFill>
                  </a:tcPr>
                </a:tc>
                <a:tc>
                  <a:txBody>
                    <a:bodyPr wrap="square"/>
                    <a:lstStyle/>
                    <a:p>
                      <a:pPr algn="ctr"/>
                      <a:r>
                        <a:rPr sz="1100" b="1">
                          <a:solidFill>
                            <a:srgbClr val="FFFFFF"/>
                          </a:solidFill>
                        </a:rPr>
                        <a:t>unique edges (exp1 only)</a:t>
                      </a:r>
                    </a:p>
                  </a:txBody>
                  <a:tcPr>
                    <a:solidFill>
                      <a:srgbClr val="354A9E"/>
                    </a:solidFill>
                  </a:tcPr>
                </a:tc>
              </a:tr>
              <a:tr h="393192">
                <a:tc>
                  <a:txBody>
                    <a:bodyPr wrap="square"/>
                    <a:lstStyle/>
                    <a:p>
                      <a:pPr algn="l"/>
                      <a:r>
                        <a:rPr sz="1100" b="0">
                          <a:solidFill>
                            <a:srgbClr val="1A1A2E"/>
                          </a:solidFill>
                        </a:rPr>
                        <a:t>re2/parse.cc</a:t>
                      </a:r>
                    </a:p>
                  </a:txBody>
                  <a:tcPr/>
                </a:tc>
                <a:tc>
                  <a:txBody>
                    <a:bodyPr wrap="square"/>
                    <a:lstStyle/>
                    <a:p>
                      <a:pPr algn="ctr"/>
                      <a:r>
                        <a:rPr sz="1100" b="0">
                          <a:solidFill>
                            <a:srgbClr val="1A1A2E"/>
                          </a:solidFill>
                        </a:rPr>
                        <a:t>86</a:t>
                      </a:r>
                    </a:p>
                  </a:txBody>
                  <a:tcPr/>
                </a:tc>
              </a:tr>
              <a:tr h="393192">
                <a:tc>
                  <a:txBody>
                    <a:bodyPr wrap="square"/>
                    <a:lstStyle/>
                    <a:p>
                      <a:pPr algn="l"/>
                      <a:r>
                        <a:rPr sz="1100" b="0">
                          <a:solidFill>
                            <a:srgbClr val="1A1A2E"/>
                          </a:solidFill>
                        </a:rPr>
                        <a:t>re2/regexp.cc</a:t>
                      </a:r>
                    </a:p>
                  </a:txBody>
                  <a:tcPr>
                    <a:solidFill>
                      <a:srgbClr val="EEF2FF"/>
                    </a:solidFill>
                  </a:tcPr>
                </a:tc>
                <a:tc>
                  <a:txBody>
                    <a:bodyPr wrap="square"/>
                    <a:lstStyle/>
                    <a:p>
                      <a:pPr algn="ctr"/>
                      <a:r>
                        <a:rPr sz="1100" b="0">
                          <a:solidFill>
                            <a:srgbClr val="1A1A2E"/>
                          </a:solidFill>
                        </a:rPr>
                        <a:t>50</a:t>
                      </a:r>
                    </a:p>
                  </a:txBody>
                  <a:tcPr>
                    <a:solidFill>
                      <a:srgbClr val="EEF2FF"/>
                    </a:solidFill>
                  </a:tcPr>
                </a:tc>
              </a:tr>
              <a:tr h="393192">
                <a:tc>
                  <a:txBody>
                    <a:bodyPr wrap="square"/>
                    <a:lstStyle/>
                    <a:p>
                      <a:pPr algn="l"/>
                      <a:r>
                        <a:rPr sz="1100" b="0">
                          <a:solidFill>
                            <a:srgbClr val="1A1A2E"/>
                          </a:solidFill>
                        </a:rPr>
                        <a:t>re2/simplify.cc</a:t>
                      </a:r>
                    </a:p>
                  </a:txBody>
                  <a:tcPr/>
                </a:tc>
                <a:tc>
                  <a:txBody>
                    <a:bodyPr wrap="square"/>
                    <a:lstStyle/>
                    <a:p>
                      <a:pPr algn="ctr"/>
                      <a:r>
                        <a:rPr sz="1100" b="0">
                          <a:solidFill>
                            <a:srgbClr val="1A1A2E"/>
                          </a:solidFill>
                        </a:rPr>
                        <a:t>14</a:t>
                      </a:r>
                    </a:p>
                  </a:txBody>
                  <a:tcPr/>
                </a:tc>
              </a:tr>
              <a:tr h="393192">
                <a:tc>
                  <a:txBody>
                    <a:bodyPr wrap="square"/>
                    <a:lstStyle/>
                    <a:p>
                      <a:pPr algn="l"/>
                      <a:r>
                        <a:rPr sz="1100" b="0">
                          <a:solidFill>
                            <a:srgbClr val="1A1A2E"/>
                          </a:solidFill>
                        </a:rPr>
                        <a:t>re2/compile.cc</a:t>
                      </a:r>
                    </a:p>
                  </a:txBody>
                  <a:tcPr>
                    <a:solidFill>
                      <a:srgbClr val="EEF2FF"/>
                    </a:solidFill>
                  </a:tcPr>
                </a:tc>
                <a:tc>
                  <a:txBody>
                    <a:bodyPr wrap="square"/>
                    <a:lstStyle/>
                    <a:p>
                      <a:pPr algn="ctr"/>
                      <a:r>
                        <a:rPr sz="1100" b="0">
                          <a:solidFill>
                            <a:srgbClr val="1A1A2E"/>
                          </a:solidFill>
                        </a:rPr>
                        <a:t>9</a:t>
                      </a:r>
                    </a:p>
                  </a:txBody>
                  <a:tcPr>
                    <a:solidFill>
                      <a:srgbClr val="EEF2FF"/>
                    </a:solidFill>
                  </a:tcPr>
                </a:tc>
              </a:tr>
              <a:tr h="393192">
                <a:tc>
                  <a:txBody>
                    <a:bodyPr wrap="square"/>
                    <a:lstStyle/>
                    <a:p>
                      <a:pPr algn="l"/>
                      <a:r>
                        <a:rPr sz="1100" b="0">
                          <a:solidFill>
                            <a:srgbClr val="1A1A2E"/>
                          </a:solidFill>
                        </a:rPr>
                        <a:t>re2/prog.cc</a:t>
                      </a:r>
                    </a:p>
                  </a:txBody>
                  <a:tcPr/>
                </a:tc>
                <a:tc>
                  <a:txBody>
                    <a:bodyPr wrap="square"/>
                    <a:lstStyle/>
                    <a:p>
                      <a:pPr algn="ctr"/>
                      <a:r>
                        <a:rPr sz="1100" b="0">
                          <a:solidFill>
                            <a:srgbClr val="1A1A2E"/>
                          </a:solidFill>
                        </a:rPr>
                        <a:t>6</a:t>
                      </a:r>
                    </a:p>
                  </a:txBody>
                  <a:tcPr/>
                </a:tc>
              </a:tr>
              <a:tr h="393192">
                <a:tc>
                  <a:txBody>
                    <a:bodyPr wrap="square"/>
                    <a:lstStyle/>
                    <a:p>
                      <a:pPr algn="l"/>
                      <a:r>
                        <a:rPr sz="1100" b="0">
                          <a:solidFill>
                            <a:srgbClr val="1A1A2E"/>
                          </a:solidFill>
                        </a:rPr>
                        <a:t>re2/re2.cc</a:t>
                      </a:r>
                    </a:p>
                  </a:txBody>
                  <a:tcPr>
                    <a:solidFill>
                      <a:srgbClr val="EEF2FF"/>
                    </a:solidFill>
                  </a:tcPr>
                </a:tc>
                <a:tc>
                  <a:txBody>
                    <a:bodyPr wrap="square"/>
                    <a:lstStyle/>
                    <a:p>
                      <a:pPr algn="ctr"/>
                      <a:r>
                        <a:rPr sz="1100" b="0">
                          <a:solidFill>
                            <a:srgbClr val="1A1A2E"/>
                          </a:solidFill>
                        </a:rPr>
                        <a:t>3</a:t>
                      </a:r>
                    </a:p>
                  </a:txBody>
                  <a:tcPr>
                    <a:solidFill>
                      <a:srgbClr val="EEF2FF"/>
                    </a:solidFill>
                  </a:tcPr>
                </a:tc>
              </a:tr>
              <a:tr h="393192">
                <a:tc>
                  <a:txBody>
                    <a:bodyPr wrap="square"/>
                    <a:lstStyle/>
                    <a:p>
                      <a:pPr algn="l"/>
                      <a:r>
                        <a:rPr sz="1100" b="0">
                          <a:solidFill>
                            <a:srgbClr val="1A1A2E"/>
                          </a:solidFill>
                        </a:rPr>
                        <a:t>re2/dfa.cc</a:t>
                      </a:r>
                    </a:p>
                  </a:txBody>
                  <a:tcPr/>
                </a:tc>
                <a:tc>
                  <a:txBody>
                    <a:bodyPr wrap="square"/>
                    <a:lstStyle/>
                    <a:p>
                      <a:pPr algn="ctr"/>
                      <a:r>
                        <a:rPr sz="1100" b="0">
                          <a:solidFill>
                            <a:srgbClr val="1A1A2E"/>
                          </a:solidFill>
                        </a:rPr>
                        <a:t>3</a:t>
                      </a:r>
                    </a:p>
                  </a:txBody>
                  <a:tcPr/>
                </a:tc>
              </a:tr>
              <a:tr h="393192">
                <a:tc>
                  <a:txBody>
                    <a:bodyPr wrap="square"/>
                    <a:lstStyle/>
                    <a:p>
                      <a:pPr algn="l"/>
                      <a:r>
                        <a:rPr sz="1100" b="0">
                          <a:solidFill>
                            <a:srgbClr val="1A1A2E"/>
                          </a:solidFill>
                        </a:rPr>
                        <a:t>util/logging.h</a:t>
                      </a:r>
                    </a:p>
                  </a:txBody>
                  <a:tcPr>
                    <a:solidFill>
                      <a:srgbClr val="EEF2FF"/>
                    </a:solidFill>
                  </a:tcPr>
                </a:tc>
                <a:tc>
                  <a:txBody>
                    <a:bodyPr wrap="square"/>
                    <a:lstStyle/>
                    <a:p>
                      <a:pPr algn="ctr"/>
                      <a:r>
                        <a:rPr sz="1100" b="0">
                          <a:solidFill>
                            <a:srgbClr val="1A1A2E"/>
                          </a:solidFill>
                        </a:rPr>
                        <a:t>2</a:t>
                      </a:r>
                    </a:p>
                  </a:txBody>
                  <a:tcPr>
                    <a:solidFill>
                      <a:srgbClr val="EEF2FF"/>
                    </a:solidFill>
                  </a:tcPr>
                </a:tc>
              </a:tr>
            </a:tbl>
          </a:graphicData>
        </a:graphic>
      </p:graphicFrame>
      <p:sp>
        <p:nvSpPr>
          <p:cNvPr id="6" name="TextBox 5"/>
          <p:cNvSpPr txBox="1"/>
          <p:nvPr/>
        </p:nvSpPr>
        <p:spPr>
          <a:xfrm>
            <a:off x="5475299" y="1051560"/>
            <a:ext cx="6213475" cy="274320"/>
          </a:xfrm>
          <a:prstGeom prst="rect">
            <a:avLst/>
          </a:prstGeom>
          <a:noFill/>
        </p:spPr>
        <p:txBody>
          <a:bodyPr wrap="square">
            <a:spAutoFit/>
          </a:bodyPr>
          <a:lstStyle/>
          <a:p>
            <a:pPr algn="l"/>
            <a:r>
              <a:rPr sz="1400" b="1" i="0">
                <a:solidFill>
                  <a:srgbClr val="1E2761"/>
                </a:solidFill>
              </a:rPr>
              <a:t>Why these files?</a:t>
            </a:r>
          </a:p>
        </p:txBody>
      </p:sp>
      <p:sp>
        <p:nvSpPr>
          <p:cNvPr id="7" name="TextBox 6"/>
          <p:cNvSpPr txBox="1"/>
          <p:nvPr/>
        </p:nvSpPr>
        <p:spPr>
          <a:xfrm>
            <a:off x="5475299" y="1371600"/>
            <a:ext cx="6213475" cy="5212080"/>
          </a:xfrm>
          <a:prstGeom prst="rect">
            <a:avLst/>
          </a:prstGeom>
          <a:noFill/>
        </p:spPr>
        <p:txBody>
          <a:bodyPr wrap="square">
            <a:spAutoFit/>
          </a:bodyPr>
          <a:lstStyle/>
          <a:p>
            <a:pPr>
              <a:spcBef>
                <a:spcPts val="400"/>
              </a:spcBef>
            </a:pPr>
            <a:r>
              <a:rPr sz="1300" b="0">
                <a:solidFill>
                  <a:srgbClr val="1A1A2E"/>
                </a:solidFill>
              </a:rPr>
              <a:t>•  exp1's gap list is drawn from re2/parse.cc, re2/regexp.cc, re2/simplify.cc — exactly the files it wins on.</a:t>
            </a:r>
          </a:p>
          <a:p>
            <a:pPr>
              <a:spcBef>
                <a:spcPts val="400"/>
              </a:spcBef>
            </a:pPr>
            <a:r>
              <a:rPr sz="1300" b="0">
                <a:solidFill>
                  <a:srgbClr val="1A1A2E"/>
                </a:solidFill>
              </a:rPr>
              <a:t>•  exp2 sees the parser source code but lacks coverage annotations pointing at specific uncovered branches.</a:t>
            </a:r>
          </a:p>
          <a:p>
            <a:pPr>
              <a:spcBef>
                <a:spcPts val="400"/>
              </a:spcBef>
            </a:pPr>
            <a:r>
              <a:rPr sz="1300" b="0">
                <a:solidFill>
                  <a:srgbClr val="1A1A2E"/>
                </a:solidFill>
              </a:rPr>
              <a:t>•  The gap-targeted prompt acts as a flashlight on a known neighborhood.</a:t>
            </a:r>
          </a:p>
          <a:p>
            <a:pPr>
              <a:spcBef>
                <a:spcPts val="400"/>
              </a:spcBef>
            </a:pPr>
            <a:r>
              <a:rPr sz="1300" b="0">
                <a:solidFill>
                  <a:srgbClr val="1A1A2E"/>
                </a:solidFill>
              </a:rPr>
              <a:t>•  This will matter when we ask: does the advantage transfer to held-out files?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Takeaway from the Main A/B</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Three lessons before moving to generalization</a:t>
            </a:r>
          </a:p>
        </p:txBody>
      </p:sp>
      <p:sp>
        <p:nvSpPr>
          <p:cNvPr id="5" name="Rectangle 4"/>
          <p:cNvSpPr/>
          <p:nvPr/>
        </p:nvSpPr>
        <p:spPr>
          <a:xfrm>
            <a:off x="502920" y="1051560"/>
            <a:ext cx="502920" cy="12344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417320"/>
            <a:ext cx="384048" cy="502920"/>
          </a:xfrm>
          <a:prstGeom prst="rect">
            <a:avLst/>
          </a:prstGeom>
          <a:noFill/>
        </p:spPr>
        <p:txBody>
          <a:bodyPr wrap="square">
            <a:spAutoFit/>
          </a:bodyPr>
          <a:lstStyle/>
          <a:p>
            <a:pPr algn="ctr"/>
            <a:r>
              <a:rPr sz="2000" b="1" i="0">
                <a:solidFill>
                  <a:srgbClr val="FFFFFF"/>
                </a:solidFill>
              </a:rPr>
              <a:t>1.</a:t>
            </a:r>
          </a:p>
        </p:txBody>
      </p:sp>
      <p:sp>
        <p:nvSpPr>
          <p:cNvPr id="7" name="TextBox 6"/>
          <p:cNvSpPr txBox="1"/>
          <p:nvPr/>
        </p:nvSpPr>
        <p:spPr>
          <a:xfrm>
            <a:off x="1143000" y="1097280"/>
            <a:ext cx="10454335" cy="347472"/>
          </a:xfrm>
          <a:prstGeom prst="rect">
            <a:avLst/>
          </a:prstGeom>
          <a:noFill/>
        </p:spPr>
        <p:txBody>
          <a:bodyPr wrap="square">
            <a:spAutoFit/>
          </a:bodyPr>
          <a:lstStyle/>
          <a:p>
            <a:pPr algn="l"/>
            <a:r>
              <a:rPr sz="1500" b="1" i="0">
                <a:solidFill>
                  <a:srgbClr val="1E2761"/>
                </a:solidFill>
              </a:rPr>
              <a:t>Prompt format matters as much as prompt content.</a:t>
            </a:r>
          </a:p>
        </p:txBody>
      </p:sp>
      <p:sp>
        <p:nvSpPr>
          <p:cNvPr id="8" name="TextBox 7"/>
          <p:cNvSpPr txBox="1"/>
          <p:nvPr/>
        </p:nvSpPr>
        <p:spPr>
          <a:xfrm>
            <a:off x="1143000" y="1463040"/>
            <a:ext cx="10454335" cy="804672"/>
          </a:xfrm>
          <a:prstGeom prst="rect">
            <a:avLst/>
          </a:prstGeom>
          <a:noFill/>
        </p:spPr>
        <p:txBody>
          <a:bodyPr wrap="square">
            <a:spAutoFit/>
          </a:bodyPr>
          <a:lstStyle/>
          <a:p>
            <a:pPr algn="l"/>
            <a:r>
              <a:rPr sz="1300" b="0" i="0">
                <a:solidFill>
                  <a:srgbClr val="1A1A2E"/>
                </a:solidFill>
              </a:rPr>
              <a:t>A content-correct prompt in the wrong format looks identical to "the model can't do the task." We nearly concluded exp2 wins when the real story was the harness/format mismatch.</a:t>
            </a:r>
          </a:p>
        </p:txBody>
      </p:sp>
      <p:sp>
        <p:nvSpPr>
          <p:cNvPr id="9" name="Rectangle 8"/>
          <p:cNvSpPr/>
          <p:nvPr/>
        </p:nvSpPr>
        <p:spPr>
          <a:xfrm>
            <a:off x="502920" y="2468880"/>
            <a:ext cx="502920" cy="12344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2834640"/>
            <a:ext cx="384048" cy="502920"/>
          </a:xfrm>
          <a:prstGeom prst="rect">
            <a:avLst/>
          </a:prstGeom>
          <a:noFill/>
        </p:spPr>
        <p:txBody>
          <a:bodyPr wrap="square">
            <a:spAutoFit/>
          </a:bodyPr>
          <a:lstStyle/>
          <a:p>
            <a:pPr algn="ctr"/>
            <a:r>
              <a:rPr sz="2000" b="1" i="0">
                <a:solidFill>
                  <a:srgbClr val="FFFFFF"/>
                </a:solidFill>
              </a:rPr>
              <a:t>2.</a:t>
            </a:r>
          </a:p>
        </p:txBody>
      </p:sp>
      <p:sp>
        <p:nvSpPr>
          <p:cNvPr id="11" name="TextBox 10"/>
          <p:cNvSpPr txBox="1"/>
          <p:nvPr/>
        </p:nvSpPr>
        <p:spPr>
          <a:xfrm>
            <a:off x="1143000" y="2514600"/>
            <a:ext cx="10454335" cy="347472"/>
          </a:xfrm>
          <a:prstGeom prst="rect">
            <a:avLst/>
          </a:prstGeom>
          <a:noFill/>
        </p:spPr>
        <p:txBody>
          <a:bodyPr wrap="square">
            <a:spAutoFit/>
          </a:bodyPr>
          <a:lstStyle/>
          <a:p>
            <a:pPr algn="l"/>
            <a:r>
              <a:rPr sz="1500" b="1" i="0">
                <a:solidFill>
                  <a:srgbClr val="1E2761"/>
                </a:solidFill>
              </a:rPr>
              <a:t>Match the prompt to the target's native input idiom.</a:t>
            </a:r>
          </a:p>
        </p:txBody>
      </p:sp>
      <p:sp>
        <p:nvSpPr>
          <p:cNvPr id="12" name="TextBox 11"/>
          <p:cNvSpPr txBox="1"/>
          <p:nvPr/>
        </p:nvSpPr>
        <p:spPr>
          <a:xfrm>
            <a:off x="1143000" y="2880360"/>
            <a:ext cx="10454335" cy="804672"/>
          </a:xfrm>
          <a:prstGeom prst="rect">
            <a:avLst/>
          </a:prstGeom>
          <a:noFill/>
        </p:spPr>
        <p:txBody>
          <a:bodyPr wrap="square">
            <a:spAutoFit/>
          </a:bodyPr>
          <a:lstStyle/>
          <a:p>
            <a:pPr algn="l"/>
            <a:r>
              <a:rPr sz="1300" b="0" i="0">
                <a:solidFill>
                  <a:srgbClr val="1A1A2E"/>
                </a:solidFill>
              </a:rPr>
              <a:t>Regex for RE2 · SQL for sqlite · binary header for libpng. This is not a one-size template the way the research plan originally implied.</a:t>
            </a:r>
          </a:p>
        </p:txBody>
      </p:sp>
      <p:sp>
        <p:nvSpPr>
          <p:cNvPr id="13" name="Rectangle 12"/>
          <p:cNvSpPr/>
          <p:nvPr/>
        </p:nvSpPr>
        <p:spPr>
          <a:xfrm>
            <a:off x="502920" y="3886200"/>
            <a:ext cx="502920" cy="12344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4251960"/>
            <a:ext cx="384048" cy="502920"/>
          </a:xfrm>
          <a:prstGeom prst="rect">
            <a:avLst/>
          </a:prstGeom>
          <a:noFill/>
        </p:spPr>
        <p:txBody>
          <a:bodyPr wrap="square">
            <a:spAutoFit/>
          </a:bodyPr>
          <a:lstStyle/>
          <a:p>
            <a:pPr algn="ctr"/>
            <a:r>
              <a:rPr sz="2000" b="1" i="0">
                <a:solidFill>
                  <a:srgbClr val="FFFFFF"/>
                </a:solidFill>
              </a:rPr>
              <a:t>3.</a:t>
            </a:r>
          </a:p>
        </p:txBody>
      </p:sp>
      <p:sp>
        <p:nvSpPr>
          <p:cNvPr id="15" name="TextBox 14"/>
          <p:cNvSpPr txBox="1"/>
          <p:nvPr/>
        </p:nvSpPr>
        <p:spPr>
          <a:xfrm>
            <a:off x="1143000" y="3931920"/>
            <a:ext cx="10454335" cy="347472"/>
          </a:xfrm>
          <a:prstGeom prst="rect">
            <a:avLst/>
          </a:prstGeom>
          <a:noFill/>
        </p:spPr>
        <p:txBody>
          <a:bodyPr wrap="square">
            <a:spAutoFit/>
          </a:bodyPr>
          <a:lstStyle/>
          <a:p>
            <a:pPr algn="l"/>
            <a:r>
              <a:rPr sz="1500" b="1" i="0">
                <a:solidFill>
                  <a:srgbClr val="1E2761"/>
                </a:solidFill>
              </a:rPr>
              <a:t>At matched format, the gap-targeted hypothesis holds on RE2 at this scale.</a:t>
            </a:r>
          </a:p>
        </p:txBody>
      </p:sp>
      <p:sp>
        <p:nvSpPr>
          <p:cNvPr id="16" name="TextBox 15"/>
          <p:cNvSpPr txBox="1"/>
          <p:nvPr/>
        </p:nvSpPr>
        <p:spPr>
          <a:xfrm>
            <a:off x="1143000" y="4297680"/>
            <a:ext cx="10454335" cy="804672"/>
          </a:xfrm>
          <a:prstGeom prst="rect">
            <a:avLst/>
          </a:prstGeom>
          <a:noFill/>
        </p:spPr>
        <p:txBody>
          <a:bodyPr wrap="square">
            <a:spAutoFit/>
          </a:bodyPr>
          <a:lstStyle/>
          <a:p>
            <a:pPr algn="l"/>
            <a:r>
              <a:rPr sz="1300" b="0" i="0">
                <a:solidFill>
                  <a:srgbClr val="1A1A2E"/>
                </a:solidFill>
              </a:rPr>
              <a:t>But: n=3 samples, 1 target, 1 model — not yet a statistical claim. The generalization experiments below probe whether the +110 transfers.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Generalization Follow-Up — Is exp1's +110 Transferable?</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User hypothesis: exp2 should generalize better; exp1's gap list is a flashlight, not a transferable skill</a:t>
            </a:r>
          </a:p>
        </p:txBody>
      </p:sp>
      <p:sp>
        <p:nvSpPr>
          <p:cNvPr id="5" name="TextBox 4"/>
          <p:cNvSpPr txBox="1"/>
          <p:nvPr/>
        </p:nvSpPr>
        <p:spPr>
          <a:xfrm>
            <a:off x="502920" y="1051560"/>
            <a:ext cx="11185855" cy="256032"/>
          </a:xfrm>
          <a:prstGeom prst="rect">
            <a:avLst/>
          </a:prstGeom>
          <a:noFill/>
        </p:spPr>
        <p:txBody>
          <a:bodyPr wrap="square">
            <a:spAutoFit/>
          </a:bodyPr>
          <a:lstStyle/>
          <a:p>
            <a:pPr algn="l"/>
            <a:r>
              <a:rPr sz="1400" b="1" i="0">
                <a:solidFill>
                  <a:srgbClr val="1E2761"/>
                </a:solidFill>
              </a:rPr>
              <a:t>Three probes — all llama-3.1-8b, all regex format, all under $1 LLM spend</a:t>
            </a:r>
          </a:p>
        </p:txBody>
      </p:sp>
      <p:sp>
        <p:nvSpPr>
          <p:cNvPr id="6" name="Rectangle 5"/>
          <p:cNvSpPr/>
          <p:nvPr/>
        </p:nvSpPr>
        <p:spPr>
          <a:xfrm>
            <a:off x="502920" y="1399032"/>
            <a:ext cx="73152"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99032"/>
            <a:ext cx="10957255" cy="292608"/>
          </a:xfrm>
          <a:prstGeom prst="rect">
            <a:avLst/>
          </a:prstGeom>
          <a:noFill/>
        </p:spPr>
        <p:txBody>
          <a:bodyPr wrap="square">
            <a:spAutoFit/>
          </a:bodyPr>
          <a:lstStyle/>
          <a:p>
            <a:pPr algn="l"/>
            <a:r>
              <a:rPr sz="1400" b="1" i="0">
                <a:solidFill>
                  <a:srgbClr val="1E2761"/>
                </a:solidFill>
              </a:rPr>
              <a:t>P0 — Random Baseline</a:t>
            </a:r>
          </a:p>
        </p:txBody>
      </p:sp>
      <p:sp>
        <p:nvSpPr>
          <p:cNvPr id="8" name="TextBox 7"/>
          <p:cNvSpPr txBox="1"/>
          <p:nvPr/>
        </p:nvSpPr>
        <p:spPr>
          <a:xfrm>
            <a:off x="685800" y="1719072"/>
            <a:ext cx="10957255" cy="822960"/>
          </a:xfrm>
          <a:prstGeom prst="rect">
            <a:avLst/>
          </a:prstGeom>
          <a:noFill/>
        </p:spPr>
        <p:txBody>
          <a:bodyPr wrap="square">
            <a:spAutoFit/>
          </a:bodyPr>
          <a:lstStyle/>
          <a:p>
            <a:pPr algn="l"/>
            <a:r>
              <a:rPr sz="1300" b="0" i="0">
                <a:solidFill>
                  <a:srgbClr val="1A1A2E"/>
                </a:solidFill>
              </a:rPr>
              <a:t>Does either LLM cell beat chance? 30 seeds of [2 random flag bytes][random ASCII 1-62], Random(42). Sets the floor.</a:t>
            </a:r>
          </a:p>
        </p:txBody>
      </p:sp>
      <p:sp>
        <p:nvSpPr>
          <p:cNvPr id="9" name="Rectangle 8"/>
          <p:cNvSpPr/>
          <p:nvPr/>
        </p:nvSpPr>
        <p:spPr>
          <a:xfrm>
            <a:off x="502920" y="2770632"/>
            <a:ext cx="73152"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70632"/>
            <a:ext cx="10957255" cy="292608"/>
          </a:xfrm>
          <a:prstGeom prst="rect">
            <a:avLst/>
          </a:prstGeom>
          <a:noFill/>
        </p:spPr>
        <p:txBody>
          <a:bodyPr wrap="square">
            <a:spAutoFit/>
          </a:bodyPr>
          <a:lstStyle/>
          <a:p>
            <a:pPr algn="l"/>
            <a:r>
              <a:rPr sz="1400" b="1" i="0">
                <a:solidFill>
                  <a:srgbClr val="1E2761"/>
                </a:solidFill>
              </a:rPr>
              <a:t>Experiment A — Held-Out Source Subset</a:t>
            </a:r>
          </a:p>
        </p:txBody>
      </p:sp>
      <p:sp>
        <p:nvSpPr>
          <p:cNvPr id="11" name="TextBox 10"/>
          <p:cNvSpPr txBox="1"/>
          <p:nvPr/>
        </p:nvSpPr>
        <p:spPr>
          <a:xfrm>
            <a:off x="685800" y="3090672"/>
            <a:ext cx="10957255" cy="822960"/>
          </a:xfrm>
          <a:prstGeom prst="rect">
            <a:avLst/>
          </a:prstGeom>
          <a:noFill/>
        </p:spPr>
        <p:txBody>
          <a:bodyPr wrap="square">
            <a:spAutoFit/>
          </a:bodyPr>
          <a:lstStyle/>
          <a:p>
            <a:pPr algn="l"/>
            <a:r>
              <a:rPr sz="1300" b="0" i="0">
                <a:solidFill>
                  <a:srgbClr val="1A1A2E"/>
                </a:solidFill>
              </a:rPr>
              <a:t>Gap list restricted to parser files (set A: parse.cc, regexp.cc, simplify.cc, tostring.cc). Coverage measured on execution files (set B: compile.cc, prog.cc, dfa.cc, nfa.cc, …). Does exp1's win transfer to files its gap list never pointed at?</a:t>
            </a:r>
          </a:p>
        </p:txBody>
      </p:sp>
      <p:sp>
        <p:nvSpPr>
          <p:cNvPr id="12" name="Rectangle 11"/>
          <p:cNvSpPr/>
          <p:nvPr/>
        </p:nvSpPr>
        <p:spPr>
          <a:xfrm>
            <a:off x="502920" y="4142232"/>
            <a:ext cx="73152" cy="1188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142232"/>
            <a:ext cx="10957255" cy="292608"/>
          </a:xfrm>
          <a:prstGeom prst="rect">
            <a:avLst/>
          </a:prstGeom>
          <a:noFill/>
        </p:spPr>
        <p:txBody>
          <a:bodyPr wrap="square">
            <a:spAutoFit/>
          </a:bodyPr>
          <a:lstStyle/>
          <a:p>
            <a:pPr algn="l"/>
            <a:r>
              <a:rPr sz="1400" b="1" i="0">
                <a:solidFill>
                  <a:srgbClr val="1E2761"/>
                </a:solidFill>
              </a:rPr>
              <a:t>Experiment B — 7-Cell Prompt Ablation</a:t>
            </a:r>
          </a:p>
        </p:txBody>
      </p:sp>
      <p:sp>
        <p:nvSpPr>
          <p:cNvPr id="14" name="TextBox 13"/>
          <p:cNvSpPr txBox="1"/>
          <p:nvPr/>
        </p:nvSpPr>
        <p:spPr>
          <a:xfrm>
            <a:off x="685800" y="4462272"/>
            <a:ext cx="10957255" cy="822960"/>
          </a:xfrm>
          <a:prstGeom prst="rect">
            <a:avLst/>
          </a:prstGeom>
          <a:noFill/>
        </p:spPr>
        <p:txBody>
          <a:bodyPr wrap="square">
            <a:spAutoFit/>
          </a:bodyPr>
          <a:lstStyle/>
          <a:p>
            <a:pPr algn="l"/>
            <a:r>
              <a:rPr sz="1300" b="0" i="0">
                <a:solidFill>
                  <a:srgbClr val="1A1A2E"/>
                </a:solidFill>
              </a:rPr>
              <a:t>Toggle Jinja blocks (tests / gaps / source) independently across 7 cells. Which piece of exp1's context is actually doing the work?</a:t>
            </a:r>
          </a:p>
        </p:txBody>
      </p:sp>
      <p:sp>
        <p:nvSpPr>
          <p:cNvPr id="15" name="TextBox 14"/>
          <p:cNvSpPr txBox="1"/>
          <p:nvPr/>
        </p:nvSpPr>
        <p:spPr>
          <a:xfrm>
            <a:off x="502920" y="6400800"/>
            <a:ext cx="11185855" cy="274320"/>
          </a:xfrm>
          <a:prstGeom prst="rect">
            <a:avLst/>
          </a:prstGeom>
          <a:noFill/>
        </p:spPr>
        <p:txBody>
          <a:bodyPr wrap="square">
            <a:spAutoFit/>
          </a:bodyPr>
          <a:lstStyle/>
          <a:p>
            <a:pPr algn="l"/>
            <a:r>
              <a:rPr sz="1100" b="0" i="1">
                <a:solidFill>
                  <a:srgbClr val="556080"/>
                </a:solidFill>
              </a:rPr>
              <a:t>Experiment C (1h × 3-trial libFuzzer campaigns) deferred — needs build/fuzzer/rebuild + ~9 CPU-hours; A+B evidence judged sufficient.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P0 — Random Baseline Establishes the Floor</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30 random seeds under Random(42); no LLM; deterministic</a:t>
            </a:r>
          </a:p>
        </p:txBody>
      </p:sp>
      <p:sp>
        <p:nvSpPr>
          <p:cNvPr id="5" name="TextBox 4"/>
          <p:cNvSpPr txBox="1"/>
          <p:nvPr/>
        </p:nvSpPr>
        <p:spPr>
          <a:xfrm>
            <a:off x="502920" y="1051560"/>
            <a:ext cx="11185855" cy="256032"/>
          </a:xfrm>
          <a:prstGeom prst="rect">
            <a:avLst/>
          </a:prstGeom>
          <a:noFill/>
        </p:spPr>
        <p:txBody>
          <a:bodyPr wrap="square">
            <a:spAutoFit/>
          </a:bodyPr>
          <a:lstStyle/>
          <a:p>
            <a:pPr algn="l"/>
            <a:r>
              <a:rPr sz="1400" b="1" i="0">
                <a:solidFill>
                  <a:srgbClr val="1E2761"/>
                </a:solidFill>
              </a:rPr>
              <a:t>Generation</a:t>
            </a:r>
          </a:p>
        </p:txBody>
      </p:sp>
      <p:sp>
        <p:nvSpPr>
          <p:cNvPr id="6" name="TextBox 5"/>
          <p:cNvSpPr txBox="1"/>
          <p:nvPr/>
        </p:nvSpPr>
        <p:spPr>
          <a:xfrm>
            <a:off x="502920" y="1325880"/>
            <a:ext cx="9507976" cy="274320"/>
          </a:xfrm>
          <a:prstGeom prst="rect">
            <a:avLst/>
          </a:prstGeom>
          <a:noFill/>
        </p:spPr>
        <p:txBody>
          <a:bodyPr wrap="square">
            <a:spAutoFit/>
          </a:bodyPr>
          <a:lstStyle/>
          <a:p>
            <a:pPr algn="l"/>
            <a:r>
              <a:rPr sz="1200" b="0" i="0">
                <a:solidFill>
                  <a:srgbClr val="1A1A2E"/>
                </a:solidFill>
              </a:rPr>
              <a:t>synthesis/scripts/generate_random_inputs.py --count 30 --seed 42 --input-format regex</a:t>
            </a:r>
          </a:p>
        </p:txBody>
      </p:sp>
      <p:sp>
        <p:nvSpPr>
          <p:cNvPr id="7" name="TextBox 6"/>
          <p:cNvSpPr txBox="1"/>
          <p:nvPr/>
        </p:nvSpPr>
        <p:spPr>
          <a:xfrm>
            <a:off x="502920" y="1691640"/>
            <a:ext cx="11185855" cy="274320"/>
          </a:xfrm>
          <a:prstGeom prst="rect">
            <a:avLst/>
          </a:prstGeom>
          <a:noFill/>
        </p:spPr>
        <p:txBody>
          <a:bodyPr wrap="square">
            <a:spAutoFit/>
          </a:bodyPr>
          <a:lstStyle/>
          <a:p>
            <a:pPr algn="l"/>
            <a:r>
              <a:rPr sz="1300" b="0" i="0">
                <a:solidFill>
                  <a:srgbClr val="1A1A2E"/>
                </a:solidFill>
              </a:rPr>
              <a:t>Per seed: [2 random flag bytes] [random ASCII, length 1-62] — deterministic under Random(42)</a:t>
            </a:r>
          </a:p>
        </p:txBody>
      </p:sp>
      <p:sp>
        <p:nvSpPr>
          <p:cNvPr id="8" name="TextBox 7"/>
          <p:cNvSpPr txBox="1"/>
          <p:nvPr/>
        </p:nvSpPr>
        <p:spPr>
          <a:xfrm>
            <a:off x="502920" y="2103120"/>
            <a:ext cx="11185855" cy="256032"/>
          </a:xfrm>
          <a:prstGeom prst="rect">
            <a:avLst/>
          </a:prstGeom>
          <a:noFill/>
        </p:spPr>
        <p:txBody>
          <a:bodyPr wrap="square">
            <a:spAutoFit/>
          </a:bodyPr>
          <a:lstStyle/>
          <a:p>
            <a:pPr algn="l"/>
            <a:r>
              <a:rPr sz="1400" b="1" i="0">
                <a:solidFill>
                  <a:srgbClr val="1E2761"/>
                </a:solidFill>
              </a:rPr>
              <a:t>Sample seeds (hex preview)</a:t>
            </a:r>
          </a:p>
        </p:txBody>
      </p:sp>
      <p:sp>
        <p:nvSpPr>
          <p:cNvPr id="9" name="Rectangle 8"/>
          <p:cNvSpPr/>
          <p:nvPr/>
        </p:nvSpPr>
        <p:spPr>
          <a:xfrm>
            <a:off x="502920" y="2377440"/>
            <a:ext cx="7830098" cy="1051560"/>
          </a:xfrm>
          <a:prstGeom prst="rect">
            <a:avLst/>
          </a:prstGeom>
          <a:solidFill>
            <a:srgbClr val="F0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7647218" cy="914400"/>
          </a:xfrm>
          <a:prstGeom prst="rect">
            <a:avLst/>
          </a:prstGeom>
          <a:noFill/>
        </p:spPr>
        <p:txBody>
          <a:bodyPr wrap="square">
            <a:spAutoFit/>
          </a:bodyPr>
          <a:lstStyle/>
          <a:p>
            <a:pPr algn="l"/>
            <a:r>
              <a:rPr sz="1100" b="0" i="0">
                <a:solidFill>
                  <a:srgbClr val="1A1A2E"/>
                </a:solidFill>
              </a:rPr>
              <a:t>seed_00.bin : 8C 31  4D 62 69 32 42 6F …  "Mbi2Bo…"
seed_01.bin : 41 7E  32 41 50 77 5A 6B …  "2APwZk…"
seed_02.bin : F0 19  74 68 6E 62 57 31 …  "thnbW1…"</a:t>
            </a:r>
          </a:p>
        </p:txBody>
      </p:sp>
      <p:sp>
        <p:nvSpPr>
          <p:cNvPr id="11" name="TextBox 10"/>
          <p:cNvSpPr txBox="1"/>
          <p:nvPr/>
        </p:nvSpPr>
        <p:spPr>
          <a:xfrm>
            <a:off x="502920" y="3520440"/>
            <a:ext cx="11185855" cy="256032"/>
          </a:xfrm>
          <a:prstGeom prst="rect">
            <a:avLst/>
          </a:prstGeom>
          <a:noFill/>
        </p:spPr>
        <p:txBody>
          <a:bodyPr wrap="square">
            <a:spAutoFit/>
          </a:bodyPr>
          <a:lstStyle/>
          <a:p>
            <a:pPr algn="l"/>
            <a:r>
              <a:rPr sz="1400" b="1" i="0">
                <a:solidFill>
                  <a:srgbClr val="1E2761"/>
                </a:solidFill>
              </a:rPr>
              <a:t>Results</a:t>
            </a:r>
          </a:p>
        </p:txBody>
      </p:sp>
      <p:graphicFrame>
        <p:nvGraphicFramePr>
          <p:cNvPr id="12" name="Table 11"/>
          <p:cNvGraphicFramePr>
            <a:graphicFrameLocks noGrp="1"/>
          </p:cNvGraphicFramePr>
          <p:nvPr/>
        </p:nvGraphicFramePr>
        <p:xfrm>
          <a:off x="502920" y="3794760"/>
          <a:ext cx="9784080" cy="1536192"/>
        </p:xfrm>
        <a:graphic>
          <a:graphicData uri="http://schemas.openxmlformats.org/drawingml/2006/table">
            <a:tbl>
              <a:tblPr firstRow="1" bandRow="1">
                <a:tableStyleId>{5C22544A-7EE6-4342-B048-85BDC9FD1C3A}</a:tableStyleId>
              </a:tblPr>
              <a:tblGrid>
                <a:gridCol w="3200400"/>
                <a:gridCol w="1280160"/>
                <a:gridCol w="1280160"/>
                <a:gridCol w="4023360"/>
              </a:tblGrid>
              <a:tr h="384048">
                <a:tc>
                  <a:txBody>
                    <a:bodyPr wrap="square"/>
                    <a:lstStyle/>
                    <a:p>
                      <a:pPr algn="l"/>
                      <a:r>
                        <a:rPr sz="1100" b="1">
                          <a:solidFill>
                            <a:srgbClr val="FFFFFF"/>
                          </a:solidFill>
                        </a:rPr>
                        <a:t>cell</a:t>
                      </a:r>
                    </a:p>
                  </a:txBody>
                  <a:tcPr>
                    <a:solidFill>
                      <a:srgbClr val="354A9E"/>
                    </a:solidFill>
                  </a:tcPr>
                </a:tc>
                <a:tc>
                  <a:txBody>
                    <a:bodyPr wrap="square"/>
                    <a:lstStyle/>
                    <a:p>
                      <a:pPr algn="ctr"/>
                      <a:r>
                        <a:rPr sz="1100" b="1">
                          <a:solidFill>
                            <a:srgbClr val="FFFFFF"/>
                          </a:solidFill>
                        </a:rPr>
                        <a:t>seeds</a:t>
                      </a:r>
                    </a:p>
                  </a:txBody>
                  <a:tcPr>
                    <a:solidFill>
                      <a:srgbClr val="354A9E"/>
                    </a:solidFill>
                  </a:tcPr>
                </a:tc>
                <a:tc>
                  <a:txBody>
                    <a:bodyPr wrap="square"/>
                    <a:lstStyle/>
                    <a:p>
                      <a:pPr algn="ctr"/>
                      <a:r>
                        <a:rPr sz="1100" b="1">
                          <a:solidFill>
                            <a:srgbClr val="FFFFFF"/>
                          </a:solidFill>
                        </a:rPr>
                        <a:t>edges</a:t>
                      </a:r>
                    </a:p>
                  </a:txBody>
                  <a:tcPr>
                    <a:solidFill>
                      <a:srgbClr val="354A9E"/>
                    </a:solidFill>
                  </a:tcPr>
                </a:tc>
                <a:tc>
                  <a:txBody>
                    <a:bodyPr wrap="square"/>
                    <a:lstStyle/>
                    <a:p>
                      <a:pPr algn="ctr"/>
                      <a:r>
                        <a:rPr sz="1100" b="1">
                          <a:solidFill>
                            <a:srgbClr val="FFFFFF"/>
                          </a:solidFill>
                        </a:rPr>
                        <a:t>Δ vs random</a:t>
                      </a:r>
                    </a:p>
                  </a:txBody>
                  <a:tcPr>
                    <a:solidFill>
                      <a:srgbClr val="354A9E"/>
                    </a:solidFill>
                  </a:tcPr>
                </a:tc>
              </a:tr>
              <a:tr h="384048">
                <a:tc>
                  <a:txBody>
                    <a:bodyPr wrap="square"/>
                    <a:lstStyle/>
                    <a:p>
                      <a:pPr algn="l"/>
                      <a:r>
                        <a:rPr sz="1100" b="0">
                          <a:solidFill>
                            <a:srgbClr val="1A1A2E"/>
                          </a:solidFill>
                        </a:rPr>
                        <a:t>exp1 (gap-targeted)</a:t>
                      </a:r>
                    </a:p>
                  </a:txBody>
                  <a:tcPr/>
                </a:tc>
                <a:tc>
                  <a:txBody>
                    <a:bodyPr wrap="square"/>
                    <a:lstStyle/>
                    <a:p>
                      <a:pPr algn="ctr"/>
                      <a:r>
                        <a:rPr sz="1100" b="0">
                          <a:solidFill>
                            <a:srgbClr val="1A1A2E"/>
                          </a:solidFill>
                        </a:rPr>
                        <a:t>20</a:t>
                      </a:r>
                    </a:p>
                  </a:txBody>
                  <a:tcPr/>
                </a:tc>
                <a:tc>
                  <a:txBody>
                    <a:bodyPr wrap="square"/>
                    <a:lstStyle/>
                    <a:p>
                      <a:pPr algn="ctr"/>
                      <a:r>
                        <a:rPr sz="1100" b="0">
                          <a:solidFill>
                            <a:srgbClr val="1A1A2E"/>
                          </a:solidFill>
                        </a:rPr>
                        <a:t>1243</a:t>
                      </a:r>
                    </a:p>
                  </a:txBody>
                  <a:tcPr/>
                </a:tc>
                <a:tc>
                  <a:txBody>
                    <a:bodyPr wrap="square"/>
                    <a:lstStyle/>
                    <a:p>
                      <a:pPr algn="ctr"/>
                      <a:r>
                        <a:rPr sz="1100" b="0">
                          <a:solidFill>
                            <a:srgbClr val="1A1A2E"/>
                          </a:solidFill>
                        </a:rPr>
                        <a:t>+263 (+27%)</a:t>
                      </a:r>
                    </a:p>
                  </a:txBody>
                  <a:tcPr/>
                </a:tc>
              </a:tr>
              <a:tr h="384048">
                <a:tc>
                  <a:txBody>
                    <a:bodyPr wrap="square"/>
                    <a:lstStyle/>
                    <a:p>
                      <a:pPr algn="l"/>
                      <a:r>
                        <a:rPr sz="1100" b="0">
                          <a:solidFill>
                            <a:srgbClr val="1A1A2E"/>
                          </a:solidFill>
                        </a:rPr>
                        <a:t>exp2 (source-only)</a:t>
                      </a:r>
                    </a:p>
                  </a:txBody>
                  <a:tcPr>
                    <a:solidFill>
                      <a:srgbClr val="EEF2FF"/>
                    </a:solidFill>
                  </a:tcPr>
                </a:tc>
                <a:tc>
                  <a:txBody>
                    <a:bodyPr wrap="square"/>
                    <a:lstStyle/>
                    <a:p>
                      <a:pPr algn="ctr"/>
                      <a:r>
                        <a:rPr sz="1100" b="0">
                          <a:solidFill>
                            <a:srgbClr val="1A1A2E"/>
                          </a:solidFill>
                        </a:rPr>
                        <a:t>30</a:t>
                      </a:r>
                    </a:p>
                  </a:txBody>
                  <a:tcPr>
                    <a:solidFill>
                      <a:srgbClr val="EEF2FF"/>
                    </a:solidFill>
                  </a:tcPr>
                </a:tc>
                <a:tc>
                  <a:txBody>
                    <a:bodyPr wrap="square"/>
                    <a:lstStyle/>
                    <a:p>
                      <a:pPr algn="ctr"/>
                      <a:r>
                        <a:rPr sz="1100" b="0">
                          <a:solidFill>
                            <a:srgbClr val="1A1A2E"/>
                          </a:solidFill>
                        </a:rPr>
                        <a:t>1133</a:t>
                      </a:r>
                    </a:p>
                  </a:txBody>
                  <a:tcPr>
                    <a:solidFill>
                      <a:srgbClr val="EEF2FF"/>
                    </a:solidFill>
                  </a:tcPr>
                </a:tc>
                <a:tc>
                  <a:txBody>
                    <a:bodyPr wrap="square"/>
                    <a:lstStyle/>
                    <a:p>
                      <a:pPr algn="ctr"/>
                      <a:r>
                        <a:rPr sz="1100" b="0">
                          <a:solidFill>
                            <a:srgbClr val="1A1A2E"/>
                          </a:solidFill>
                        </a:rPr>
                        <a:t>+153 (+16%)</a:t>
                      </a:r>
                    </a:p>
                  </a:txBody>
                  <a:tcPr>
                    <a:solidFill>
                      <a:srgbClr val="EEF2FF"/>
                    </a:solidFill>
                  </a:tcPr>
                </a:tc>
              </a:tr>
              <a:tr h="384048">
                <a:tc>
                  <a:txBody>
                    <a:bodyPr wrap="square"/>
                    <a:lstStyle/>
                    <a:p>
                      <a:pPr algn="l"/>
                      <a:r>
                        <a:rPr sz="1100" b="0">
                          <a:solidFill>
                            <a:srgbClr val="1A1A2E"/>
                          </a:solidFill>
                        </a:rPr>
                        <a:t>random baseline</a:t>
                      </a:r>
                    </a:p>
                  </a:txBody>
                  <a:tcPr/>
                </a:tc>
                <a:tc>
                  <a:txBody>
                    <a:bodyPr wrap="square"/>
                    <a:lstStyle/>
                    <a:p>
                      <a:pPr algn="ctr"/>
                      <a:r>
                        <a:rPr sz="1100" b="0">
                          <a:solidFill>
                            <a:srgbClr val="1A1A2E"/>
                          </a:solidFill>
                        </a:rPr>
                        <a:t>30</a:t>
                      </a:r>
                    </a:p>
                  </a:txBody>
                  <a:tcPr/>
                </a:tc>
                <a:tc>
                  <a:txBody>
                    <a:bodyPr wrap="square"/>
                    <a:lstStyle/>
                    <a:p>
                      <a:pPr algn="ctr"/>
                      <a:r>
                        <a:rPr sz="1100" b="0">
                          <a:solidFill>
                            <a:srgbClr val="1A1A2E"/>
                          </a:solidFill>
                        </a:rPr>
                        <a:t>980</a:t>
                      </a:r>
                    </a:p>
                  </a:txBody>
                  <a:tcPr/>
                </a:tc>
                <a:tc>
                  <a:txBody>
                    <a:bodyPr wrap="square"/>
                    <a:lstStyle/>
                    <a:p>
                      <a:pPr algn="ctr"/>
                      <a:r>
                        <a:rPr sz="1100" b="0">
                          <a:solidFill>
                            <a:srgbClr val="1A1A2E"/>
                          </a:solidFill>
                        </a:rPr>
                        <a:t>(floor)</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P0 — Interpretation</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Both LLM cells clear the floor; but most of exp1's lead over exp2 is not from gap-targeting alone</a:t>
            </a:r>
          </a:p>
        </p:txBody>
      </p:sp>
      <p:sp>
        <p:nvSpPr>
          <p:cNvPr id="5" name="TextBox 4"/>
          <p:cNvSpPr txBox="1"/>
          <p:nvPr/>
        </p:nvSpPr>
        <p:spPr>
          <a:xfrm>
            <a:off x="502920" y="1051560"/>
            <a:ext cx="11185855" cy="5532120"/>
          </a:xfrm>
          <a:prstGeom prst="rect">
            <a:avLst/>
          </a:prstGeom>
          <a:noFill/>
        </p:spPr>
        <p:txBody>
          <a:bodyPr wrap="square">
            <a:spAutoFit/>
          </a:bodyPr>
          <a:lstStyle/>
          <a:p>
            <a:pPr>
              <a:spcBef>
                <a:spcPts val="400"/>
              </a:spcBef>
            </a:pPr>
            <a:r>
              <a:rPr sz="1400" b="0">
                <a:solidFill>
                  <a:srgbClr val="1A1A2E"/>
                </a:solidFill>
              </a:rPr>
              <a:t>•  Both LLM variants beat random meaningfully — the "+110 edges" claim is not noise.</a:t>
            </a:r>
          </a:p>
          <a:p>
            <a:pPr>
              <a:spcBef>
                <a:spcPts val="400"/>
              </a:spcBef>
            </a:pPr>
            <a:r>
              <a:rPr sz="1400" b="0">
                <a:solidFill>
                  <a:srgbClr val="1A1A2E"/>
                </a:solidFill>
              </a:rPr>
              <a:t>•  exp1 beats random by +263 edges (+27%); exp2 beats random by +153 edges (+16%).</a:t>
            </a:r>
          </a:p>
          <a:p>
            <a:pPr>
              <a:spcBef>
                <a:spcPts val="400"/>
              </a:spcBef>
            </a:pPr>
            <a:r>
              <a:rPr sz="1400" b="0">
                <a:solidFill>
                  <a:srgbClr val="1A1A2E"/>
                </a:solidFill>
              </a:rPr>
              <a:t>•  exp1's +110 over exp2 is only ~42% of its +263 over random — most of the above-random signal is reachable by exp2's recipe.</a:t>
            </a:r>
          </a:p>
          <a:p>
            <a:pPr>
              <a:spcBef>
                <a:spcPts val="400"/>
              </a:spcBef>
            </a:pPr>
            <a:r>
              <a:rPr sz="1400" b="0">
                <a:solidFill>
                  <a:srgbClr val="1A1A2E"/>
                </a:solidFill>
              </a:rPr>
              <a:t>•  Both LLM variants concentrate their edge over random in the parser / simplifier / compiler (re2/parse.cc, re2/simplify.cc, re2/compile.cc).</a:t>
            </a:r>
          </a:p>
        </p:txBody>
      </p:sp>
      <p:sp>
        <p:nvSpPr>
          <p:cNvPr id="6" name="Rectangle 5"/>
          <p:cNvSpPr/>
          <p:nvPr/>
        </p:nvSpPr>
        <p:spPr>
          <a:xfrm>
            <a:off x="502920" y="3611880"/>
            <a:ext cx="3637178" cy="96012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703320"/>
            <a:ext cx="3545738" cy="502920"/>
          </a:xfrm>
          <a:prstGeom prst="rect">
            <a:avLst/>
          </a:prstGeom>
          <a:noFill/>
        </p:spPr>
        <p:txBody>
          <a:bodyPr wrap="square">
            <a:spAutoFit/>
          </a:bodyPr>
          <a:lstStyle/>
          <a:p>
            <a:pPr algn="ctr"/>
            <a:r>
              <a:rPr sz="2400" b="1" i="0">
                <a:solidFill>
                  <a:srgbClr val="1E2761"/>
                </a:solidFill>
              </a:rPr>
              <a:t>+27%</a:t>
            </a:r>
          </a:p>
        </p:txBody>
      </p:sp>
      <p:sp>
        <p:nvSpPr>
          <p:cNvPr id="8" name="TextBox 7"/>
          <p:cNvSpPr txBox="1"/>
          <p:nvPr/>
        </p:nvSpPr>
        <p:spPr>
          <a:xfrm>
            <a:off x="548640" y="4224528"/>
            <a:ext cx="3545738" cy="320040"/>
          </a:xfrm>
          <a:prstGeom prst="rect">
            <a:avLst/>
          </a:prstGeom>
          <a:noFill/>
        </p:spPr>
        <p:txBody>
          <a:bodyPr wrap="square">
            <a:spAutoFit/>
          </a:bodyPr>
          <a:lstStyle/>
          <a:p>
            <a:pPr algn="ctr"/>
            <a:r>
              <a:rPr sz="1000" b="0" i="0">
                <a:solidFill>
                  <a:srgbClr val="556080"/>
                </a:solidFill>
              </a:rPr>
              <a:t>exp1 vs random</a:t>
            </a:r>
          </a:p>
        </p:txBody>
      </p:sp>
      <p:sp>
        <p:nvSpPr>
          <p:cNvPr id="9" name="Rectangle 8"/>
          <p:cNvSpPr/>
          <p:nvPr/>
        </p:nvSpPr>
        <p:spPr>
          <a:xfrm>
            <a:off x="4231538" y="3611880"/>
            <a:ext cx="3637178" cy="96012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7258" y="3703320"/>
            <a:ext cx="3545738" cy="502920"/>
          </a:xfrm>
          <a:prstGeom prst="rect">
            <a:avLst/>
          </a:prstGeom>
          <a:noFill/>
        </p:spPr>
        <p:txBody>
          <a:bodyPr wrap="square">
            <a:spAutoFit/>
          </a:bodyPr>
          <a:lstStyle/>
          <a:p>
            <a:pPr algn="ctr"/>
            <a:r>
              <a:rPr sz="2400" b="1" i="0">
                <a:solidFill>
                  <a:srgbClr val="1E2761"/>
                </a:solidFill>
              </a:rPr>
              <a:t>+16%</a:t>
            </a:r>
          </a:p>
        </p:txBody>
      </p:sp>
      <p:sp>
        <p:nvSpPr>
          <p:cNvPr id="11" name="TextBox 10"/>
          <p:cNvSpPr txBox="1"/>
          <p:nvPr/>
        </p:nvSpPr>
        <p:spPr>
          <a:xfrm>
            <a:off x="4277258" y="4224528"/>
            <a:ext cx="3545738" cy="320040"/>
          </a:xfrm>
          <a:prstGeom prst="rect">
            <a:avLst/>
          </a:prstGeom>
          <a:noFill/>
        </p:spPr>
        <p:txBody>
          <a:bodyPr wrap="square">
            <a:spAutoFit/>
          </a:bodyPr>
          <a:lstStyle/>
          <a:p>
            <a:pPr algn="ctr"/>
            <a:r>
              <a:rPr sz="1000" b="0" i="0">
                <a:solidFill>
                  <a:srgbClr val="556080"/>
                </a:solidFill>
              </a:rPr>
              <a:t>exp2 vs random</a:t>
            </a:r>
          </a:p>
        </p:txBody>
      </p:sp>
      <p:sp>
        <p:nvSpPr>
          <p:cNvPr id="12" name="Rectangle 11"/>
          <p:cNvSpPr/>
          <p:nvPr/>
        </p:nvSpPr>
        <p:spPr>
          <a:xfrm>
            <a:off x="7960156" y="3611880"/>
            <a:ext cx="3637178" cy="96012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5876" y="3703320"/>
            <a:ext cx="3545738" cy="502920"/>
          </a:xfrm>
          <a:prstGeom prst="rect">
            <a:avLst/>
          </a:prstGeom>
          <a:noFill/>
        </p:spPr>
        <p:txBody>
          <a:bodyPr wrap="square">
            <a:spAutoFit/>
          </a:bodyPr>
          <a:lstStyle/>
          <a:p>
            <a:pPr algn="ctr"/>
            <a:r>
              <a:rPr sz="2400" b="1" i="0">
                <a:solidFill>
                  <a:srgbClr val="1E2761"/>
                </a:solidFill>
              </a:rPr>
              <a:t>+110</a:t>
            </a:r>
          </a:p>
        </p:txBody>
      </p:sp>
      <p:sp>
        <p:nvSpPr>
          <p:cNvPr id="14" name="TextBox 13"/>
          <p:cNvSpPr txBox="1"/>
          <p:nvPr/>
        </p:nvSpPr>
        <p:spPr>
          <a:xfrm>
            <a:off x="8005876" y="4224528"/>
            <a:ext cx="3545738" cy="320040"/>
          </a:xfrm>
          <a:prstGeom prst="rect">
            <a:avLst/>
          </a:prstGeom>
          <a:noFill/>
        </p:spPr>
        <p:txBody>
          <a:bodyPr wrap="square">
            <a:spAutoFit/>
          </a:bodyPr>
          <a:lstStyle/>
          <a:p>
            <a:pPr algn="ctr"/>
            <a:r>
              <a:rPr sz="1000" b="0" i="0">
                <a:solidFill>
                  <a:srgbClr val="556080"/>
                </a:solidFill>
              </a:rPr>
              <a:t>exp1 vs exp2
(in-distribution)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Experiment A — Held-Out Source-File Subset</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exp1's +110 is mostly "pointed at the right files"; on held-out files the advantage collapses</a:t>
            </a:r>
          </a:p>
        </p:txBody>
      </p:sp>
      <p:sp>
        <p:nvSpPr>
          <p:cNvPr id="5" name="TextBox 4"/>
          <p:cNvSpPr txBox="1"/>
          <p:nvPr/>
        </p:nvSpPr>
        <p:spPr>
          <a:xfrm>
            <a:off x="502920" y="1051560"/>
            <a:ext cx="4921776" cy="256032"/>
          </a:xfrm>
          <a:prstGeom prst="rect">
            <a:avLst/>
          </a:prstGeom>
          <a:noFill/>
        </p:spPr>
        <p:txBody>
          <a:bodyPr wrap="square">
            <a:spAutoFit/>
          </a:bodyPr>
          <a:lstStyle/>
          <a:p>
            <a:pPr algn="l"/>
            <a:r>
              <a:rPr sz="1300" b="1" i="0">
                <a:solidFill>
                  <a:srgbClr val="1E2761"/>
                </a:solidFill>
              </a:rPr>
              <a:t>File partitioning</a:t>
            </a:r>
          </a:p>
        </p:txBody>
      </p:sp>
      <p:sp>
        <p:nvSpPr>
          <p:cNvPr id="6" name="TextBox 5"/>
          <p:cNvSpPr txBox="1"/>
          <p:nvPr/>
        </p:nvSpPr>
        <p:spPr>
          <a:xfrm>
            <a:off x="502920" y="1325880"/>
            <a:ext cx="4921776" cy="868680"/>
          </a:xfrm>
          <a:prstGeom prst="rect">
            <a:avLst/>
          </a:prstGeom>
          <a:noFill/>
        </p:spPr>
        <p:txBody>
          <a:bodyPr wrap="square">
            <a:spAutoFit/>
          </a:bodyPr>
          <a:lstStyle/>
          <a:p>
            <a:pPr algn="l"/>
            <a:r>
              <a:rPr sz="1200" b="0" i="0">
                <a:solidFill>
                  <a:srgbClr val="1A1A2E"/>
                </a:solidFill>
              </a:rPr>
              <a:t>Set A (gap list restricted here):
re2/parse.cc, re2/regexp.cc, re2/simplify.cc, re2/tostring.cc
(611 / 2042 gap branches retained)</a:t>
            </a:r>
          </a:p>
        </p:txBody>
      </p:sp>
      <p:sp>
        <p:nvSpPr>
          <p:cNvPr id="7" name="TextBox 6"/>
          <p:cNvSpPr txBox="1"/>
          <p:nvPr/>
        </p:nvSpPr>
        <p:spPr>
          <a:xfrm>
            <a:off x="502920" y="2286000"/>
            <a:ext cx="4921776" cy="685800"/>
          </a:xfrm>
          <a:prstGeom prst="rect">
            <a:avLst/>
          </a:prstGeom>
          <a:noFill/>
        </p:spPr>
        <p:txBody>
          <a:bodyPr wrap="square">
            <a:spAutoFit/>
          </a:bodyPr>
          <a:lstStyle/>
          <a:p>
            <a:pPr algn="l"/>
            <a:r>
              <a:rPr sz="1200" b="0" i="0">
                <a:solidFill>
                  <a:srgbClr val="1A1A2E"/>
                </a:solidFill>
              </a:rPr>
              <a:t>Set B (held out; coverage measured here):
re2/compile.cc, prog.cc, dfa.cc, nfa.cc, onepass.cc, bitstate.cc, re2.cc + util/rune.cc, strutil.cc</a:t>
            </a:r>
          </a:p>
        </p:txBody>
      </p:sp>
      <p:sp>
        <p:nvSpPr>
          <p:cNvPr id="8" name="TextBox 7"/>
          <p:cNvSpPr txBox="1"/>
          <p:nvPr/>
        </p:nvSpPr>
        <p:spPr>
          <a:xfrm>
            <a:off x="502920" y="3063240"/>
            <a:ext cx="4921776" cy="457200"/>
          </a:xfrm>
          <a:prstGeom prst="rect">
            <a:avLst/>
          </a:prstGeom>
          <a:noFill/>
        </p:spPr>
        <p:txBody>
          <a:bodyPr wrap="square">
            <a:spAutoFit/>
          </a:bodyPr>
          <a:lstStyle/>
          <a:p>
            <a:pPr algn="l"/>
            <a:r>
              <a:rPr sz="1200" b="0" i="1">
                <a:solidFill>
                  <a:srgbClr val="556080"/>
                </a:solidFill>
              </a:rPr>
              <a:t>exp2_source prompt is unchanged (always sees all source via call-graph priority).</a:t>
            </a:r>
          </a:p>
        </p:txBody>
      </p:sp>
      <p:graphicFrame>
        <p:nvGraphicFramePr>
          <p:cNvPr id="9" name="Table 8"/>
          <p:cNvGraphicFramePr>
            <a:graphicFrameLocks noGrp="1"/>
          </p:cNvGraphicFramePr>
          <p:nvPr/>
        </p:nvGraphicFramePr>
        <p:xfrm>
          <a:off x="5699016.2" y="1051560"/>
          <a:ext cx="4389120" cy="2011680"/>
        </p:xfrm>
        <a:graphic>
          <a:graphicData uri="http://schemas.openxmlformats.org/drawingml/2006/table">
            <a:tbl>
              <a:tblPr firstRow="1" bandRow="1">
                <a:tableStyleId>{5C22544A-7EE6-4342-B048-85BDC9FD1C3A}</a:tableStyleId>
              </a:tblPr>
              <a:tblGrid>
                <a:gridCol w="1645920"/>
                <a:gridCol w="731520"/>
                <a:gridCol w="1005840"/>
                <a:gridCol w="1005840"/>
              </a:tblGrid>
              <a:tr h="402336">
                <a:tc>
                  <a:txBody>
                    <a:bodyPr wrap="square"/>
                    <a:lstStyle/>
                    <a:p>
                      <a:pPr algn="l"/>
                      <a:r>
                        <a:rPr sz="1100" b="1">
                          <a:solidFill>
                            <a:srgbClr val="FFFFFF"/>
                          </a:solidFill>
                        </a:rPr>
                        <a:t>cell</a:t>
                      </a:r>
                    </a:p>
                  </a:txBody>
                  <a:tcPr>
                    <a:solidFill>
                      <a:srgbClr val="354A9E"/>
                    </a:solidFill>
                  </a:tcPr>
                </a:tc>
                <a:tc>
                  <a:txBody>
                    <a:bodyPr wrap="square"/>
                    <a:lstStyle/>
                    <a:p>
                      <a:pPr algn="ctr"/>
                      <a:r>
                        <a:rPr sz="1100" b="1">
                          <a:solidFill>
                            <a:srgbClr val="FFFFFF"/>
                          </a:solidFill>
                        </a:rPr>
                        <a:t>seeds</a:t>
                      </a:r>
                    </a:p>
                  </a:txBody>
                  <a:tcPr>
                    <a:solidFill>
                      <a:srgbClr val="354A9E"/>
                    </a:solidFill>
                  </a:tcPr>
                </a:tc>
                <a:tc>
                  <a:txBody>
                    <a:bodyPr wrap="square"/>
                    <a:lstStyle/>
                    <a:p>
                      <a:pPr algn="ctr"/>
                      <a:r>
                        <a:rPr sz="1100" b="1">
                          <a:solidFill>
                            <a:srgbClr val="FFFFFF"/>
                          </a:solidFill>
                        </a:rPr>
                        <a:t>B-edges</a:t>
                      </a:r>
                    </a:p>
                  </a:txBody>
                  <a:tcPr>
                    <a:solidFill>
                      <a:srgbClr val="354A9E"/>
                    </a:solidFill>
                  </a:tcPr>
                </a:tc>
                <a:tc>
                  <a:txBody>
                    <a:bodyPr wrap="square"/>
                    <a:lstStyle/>
                    <a:p>
                      <a:pPr algn="ctr"/>
                      <a:r>
                        <a:rPr sz="1100" b="1">
                          <a:solidFill>
                            <a:srgbClr val="FFFFFF"/>
                          </a:solidFill>
                        </a:rPr>
                        <a:t>Δ vs exp2</a:t>
                      </a:r>
                    </a:p>
                  </a:txBody>
                  <a:tcPr>
                    <a:solidFill>
                      <a:srgbClr val="354A9E"/>
                    </a:solidFill>
                  </a:tcPr>
                </a:tc>
              </a:tr>
              <a:tr h="402336">
                <a:tc>
                  <a:txBody>
                    <a:bodyPr wrap="square"/>
                    <a:lstStyle/>
                    <a:p>
                      <a:pPr algn="l"/>
                      <a:r>
                        <a:rPr sz="1100" b="0">
                          <a:solidFill>
                            <a:srgbClr val="1A1A2E"/>
                          </a:solidFill>
                        </a:rPr>
                        <a:t>exp1_full</a:t>
                      </a:r>
                    </a:p>
                  </a:txBody>
                  <a:tcPr/>
                </a:tc>
                <a:tc>
                  <a:txBody>
                    <a:bodyPr wrap="square"/>
                    <a:lstStyle/>
                    <a:p>
                      <a:pPr algn="ctr"/>
                      <a:r>
                        <a:rPr sz="1100" b="0">
                          <a:solidFill>
                            <a:srgbClr val="1A1A2E"/>
                          </a:solidFill>
                        </a:rPr>
                        <a:t>20</a:t>
                      </a:r>
                    </a:p>
                  </a:txBody>
                  <a:tcPr/>
                </a:tc>
                <a:tc>
                  <a:txBody>
                    <a:bodyPr wrap="square"/>
                    <a:lstStyle/>
                    <a:p>
                      <a:pPr algn="ctr"/>
                      <a:r>
                        <a:rPr sz="1100" b="0">
                          <a:solidFill>
                            <a:srgbClr val="1A1A2E"/>
                          </a:solidFill>
                        </a:rPr>
                        <a:t>599</a:t>
                      </a:r>
                    </a:p>
                  </a:txBody>
                  <a:tcPr/>
                </a:tc>
                <a:tc>
                  <a:txBody>
                    <a:bodyPr wrap="square"/>
                    <a:lstStyle/>
                    <a:p>
                      <a:pPr algn="ctr"/>
                      <a:r>
                        <a:rPr sz="1100" b="0">
                          <a:solidFill>
                            <a:srgbClr val="1A1A2E"/>
                          </a:solidFill>
                        </a:rPr>
                        <a:t>+3</a:t>
                      </a:r>
                    </a:p>
                  </a:txBody>
                  <a:tcPr/>
                </a:tc>
              </a:tr>
              <a:tr h="402336">
                <a:tc>
                  <a:txBody>
                    <a:bodyPr wrap="square"/>
                    <a:lstStyle/>
                    <a:p>
                      <a:pPr algn="l"/>
                      <a:r>
                        <a:rPr sz="1100" b="0">
                          <a:solidFill>
                            <a:srgbClr val="1A1A2E"/>
                          </a:solidFill>
                        </a:rPr>
                        <a:t>exp2_source</a:t>
                      </a:r>
                    </a:p>
                  </a:txBody>
                  <a:tcPr>
                    <a:solidFill>
                      <a:srgbClr val="EEF2FF"/>
                    </a:solidFill>
                  </a:tcPr>
                </a:tc>
                <a:tc>
                  <a:txBody>
                    <a:bodyPr wrap="square"/>
                    <a:lstStyle/>
                    <a:p>
                      <a:pPr algn="ctr"/>
                      <a:r>
                        <a:rPr sz="1100" b="0">
                          <a:solidFill>
                            <a:srgbClr val="1A1A2E"/>
                          </a:solidFill>
                        </a:rPr>
                        <a:t>30</a:t>
                      </a:r>
                    </a:p>
                  </a:txBody>
                  <a:tcPr>
                    <a:solidFill>
                      <a:srgbClr val="EEF2FF"/>
                    </a:solidFill>
                  </a:tcPr>
                </a:tc>
                <a:tc>
                  <a:txBody>
                    <a:bodyPr wrap="square"/>
                    <a:lstStyle/>
                    <a:p>
                      <a:pPr algn="ctr"/>
                      <a:r>
                        <a:rPr sz="1100" b="0">
                          <a:solidFill>
                            <a:srgbClr val="1A1A2E"/>
                          </a:solidFill>
                        </a:rPr>
                        <a:t>596</a:t>
                      </a:r>
                    </a:p>
                  </a:txBody>
                  <a:tcPr>
                    <a:solidFill>
                      <a:srgbClr val="EEF2FF"/>
                    </a:solidFill>
                  </a:tcPr>
                </a:tc>
                <a:tc>
                  <a:txBody>
                    <a:bodyPr wrap="square"/>
                    <a:lstStyle/>
                    <a:p>
                      <a:pPr algn="ctr"/>
                      <a:r>
                        <a:rPr sz="1100" b="0">
                          <a:solidFill>
                            <a:srgbClr val="1A1A2E"/>
                          </a:solidFill>
                        </a:rPr>
                        <a:t>0</a:t>
                      </a:r>
                    </a:p>
                  </a:txBody>
                  <a:tcPr>
                    <a:solidFill>
                      <a:srgbClr val="EEF2FF"/>
                    </a:solidFill>
                  </a:tcPr>
                </a:tc>
              </a:tr>
              <a:tr h="402336">
                <a:tc>
                  <a:txBody>
                    <a:bodyPr wrap="square"/>
                    <a:lstStyle/>
                    <a:p>
                      <a:pPr algn="l"/>
                      <a:r>
                        <a:rPr sz="1100" b="0">
                          <a:solidFill>
                            <a:srgbClr val="1A1A2E"/>
                          </a:solidFill>
                        </a:rPr>
                        <a:t>exp1_heldout</a:t>
                      </a:r>
                    </a:p>
                  </a:txBody>
                  <a:tcPr/>
                </a:tc>
                <a:tc>
                  <a:txBody>
                    <a:bodyPr wrap="square"/>
                    <a:lstStyle/>
                    <a:p>
                      <a:pPr algn="ctr"/>
                      <a:r>
                        <a:rPr sz="1100" b="0">
                          <a:solidFill>
                            <a:srgbClr val="1A1A2E"/>
                          </a:solidFill>
                        </a:rPr>
                        <a:t>30</a:t>
                      </a:r>
                    </a:p>
                  </a:txBody>
                  <a:tcPr/>
                </a:tc>
                <a:tc>
                  <a:txBody>
                    <a:bodyPr wrap="square"/>
                    <a:lstStyle/>
                    <a:p>
                      <a:pPr algn="ctr"/>
                      <a:r>
                        <a:rPr sz="1100" b="0">
                          <a:solidFill>
                            <a:srgbClr val="1A1A2E"/>
                          </a:solidFill>
                        </a:rPr>
                        <a:t>581</a:t>
                      </a:r>
                    </a:p>
                  </a:txBody>
                  <a:tcPr/>
                </a:tc>
                <a:tc>
                  <a:txBody>
                    <a:bodyPr wrap="square"/>
                    <a:lstStyle/>
                    <a:p>
                      <a:pPr algn="ctr"/>
                      <a:r>
                        <a:rPr sz="1100" b="0">
                          <a:solidFill>
                            <a:srgbClr val="1A1A2E"/>
                          </a:solidFill>
                        </a:rPr>
                        <a:t>−15</a:t>
                      </a:r>
                    </a:p>
                  </a:txBody>
                  <a:tcPr/>
                </a:tc>
              </a:tr>
              <a:tr h="402336">
                <a:tc>
                  <a:txBody>
                    <a:bodyPr wrap="square"/>
                    <a:lstStyle/>
                    <a:p>
                      <a:pPr algn="l"/>
                      <a:r>
                        <a:rPr sz="1100" b="0">
                          <a:solidFill>
                            <a:srgbClr val="1A1A2E"/>
                          </a:solidFill>
                        </a:rPr>
                        <a:t>random</a:t>
                      </a:r>
                    </a:p>
                  </a:txBody>
                  <a:tcPr>
                    <a:solidFill>
                      <a:srgbClr val="EEF2FF"/>
                    </a:solidFill>
                  </a:tcPr>
                </a:tc>
                <a:tc>
                  <a:txBody>
                    <a:bodyPr wrap="square"/>
                    <a:lstStyle/>
                    <a:p>
                      <a:pPr algn="ctr"/>
                      <a:r>
                        <a:rPr sz="1100" b="0">
                          <a:solidFill>
                            <a:srgbClr val="1A1A2E"/>
                          </a:solidFill>
                        </a:rPr>
                        <a:t>30</a:t>
                      </a:r>
                    </a:p>
                  </a:txBody>
                  <a:tcPr>
                    <a:solidFill>
                      <a:srgbClr val="EEF2FF"/>
                    </a:solidFill>
                  </a:tcPr>
                </a:tc>
                <a:tc>
                  <a:txBody>
                    <a:bodyPr wrap="square"/>
                    <a:lstStyle/>
                    <a:p>
                      <a:pPr algn="ctr"/>
                      <a:r>
                        <a:rPr sz="1100" b="0">
                          <a:solidFill>
                            <a:srgbClr val="1A1A2E"/>
                          </a:solidFill>
                        </a:rPr>
                        <a:t>557</a:t>
                      </a:r>
                    </a:p>
                  </a:txBody>
                  <a:tcPr>
                    <a:solidFill>
                      <a:srgbClr val="EEF2FF"/>
                    </a:solidFill>
                  </a:tcPr>
                </a:tc>
                <a:tc>
                  <a:txBody>
                    <a:bodyPr wrap="square"/>
                    <a:lstStyle/>
                    <a:p>
                      <a:pPr algn="ctr"/>
                      <a:r>
                        <a:rPr sz="1100" b="0">
                          <a:solidFill>
                            <a:srgbClr val="1A1A2E"/>
                          </a:solidFill>
                        </a:rPr>
                        <a:t>−39</a:t>
                      </a:r>
                    </a:p>
                  </a:txBody>
                  <a:tcPr>
                    <a:solidFill>
                      <a:srgbClr val="EEF2FF"/>
                    </a:solidFill>
                  </a:tcPr>
                </a:tc>
              </a:tr>
            </a:tbl>
          </a:graphicData>
        </a:graphic>
      </p:graphicFrame>
      <p:sp>
        <p:nvSpPr>
          <p:cNvPr id="10" name="Rectangle 9"/>
          <p:cNvSpPr/>
          <p:nvPr/>
        </p:nvSpPr>
        <p:spPr>
          <a:xfrm>
            <a:off x="502920" y="3337560"/>
            <a:ext cx="11185855" cy="5943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3410712"/>
            <a:ext cx="10957255" cy="475488"/>
          </a:xfrm>
          <a:prstGeom prst="rect">
            <a:avLst/>
          </a:prstGeom>
          <a:noFill/>
        </p:spPr>
        <p:txBody>
          <a:bodyPr wrap="square">
            <a:spAutoFit/>
          </a:bodyPr>
          <a:lstStyle/>
          <a:p>
            <a:pPr algn="l"/>
            <a:r>
              <a:rPr sz="1300" b="0" i="0">
                <a:solidFill>
                  <a:srgbClr val="1E2761"/>
                </a:solidFill>
              </a:rPr>
              <a:t>+110 in-distribution  →  +3 on held-out files  →  −15 when gap list is restricted to a disjoint file set.  exp2's recipe transfers; exp1's does not.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Experiment B — Prompt Matrix</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Template: ablation_synthesis_regex.j2 with Jinja toggles: include_tests, include_gaps, include_source</a:t>
            </a:r>
          </a:p>
        </p:txBody>
      </p:sp>
      <p:graphicFrame>
        <p:nvGraphicFramePr>
          <p:cNvPr id="5" name="Table 4"/>
          <p:cNvGraphicFramePr>
            <a:graphicFrameLocks noGrp="1"/>
          </p:cNvGraphicFramePr>
          <p:nvPr/>
        </p:nvGraphicFramePr>
        <p:xfrm>
          <a:off x="502920" y="1051560"/>
          <a:ext cx="9875520" cy="3072384"/>
        </p:xfrm>
        <a:graphic>
          <a:graphicData uri="http://schemas.openxmlformats.org/drawingml/2006/table">
            <a:tbl>
              <a:tblPr firstRow="1" bandRow="1">
                <a:tableStyleId>{5C22544A-7EE6-4342-B048-85BDC9FD1C3A}</a:tableStyleId>
              </a:tblPr>
              <a:tblGrid>
                <a:gridCol w="1828800"/>
                <a:gridCol w="822960"/>
                <a:gridCol w="822960"/>
                <a:gridCol w="777240"/>
                <a:gridCol w="777240"/>
                <a:gridCol w="822960"/>
                <a:gridCol w="4023360"/>
              </a:tblGrid>
              <a:tr h="384048">
                <a:tc>
                  <a:txBody>
                    <a:bodyPr wrap="square"/>
                    <a:lstStyle/>
                    <a:p>
                      <a:pPr algn="l"/>
                      <a:r>
                        <a:rPr sz="1100" b="1">
                          <a:solidFill>
                            <a:srgbClr val="FFFFFF"/>
                          </a:solidFill>
                        </a:rPr>
                        <a:t>cell</a:t>
                      </a:r>
                    </a:p>
                  </a:txBody>
                  <a:tcPr>
                    <a:solidFill>
                      <a:srgbClr val="354A9E"/>
                    </a:solidFill>
                  </a:tcPr>
                </a:tc>
                <a:tc>
                  <a:txBody>
                    <a:bodyPr wrap="square"/>
                    <a:lstStyle/>
                    <a:p>
                      <a:pPr algn="ctr"/>
                      <a:r>
                        <a:rPr sz="1100" b="1">
                          <a:solidFill>
                            <a:srgbClr val="FFFFFF"/>
                          </a:solidFill>
                        </a:rPr>
                        <a:t>system</a:t>
                      </a:r>
                    </a:p>
                  </a:txBody>
                  <a:tcPr>
                    <a:solidFill>
                      <a:srgbClr val="354A9E"/>
                    </a:solidFill>
                  </a:tcPr>
                </a:tc>
                <a:tc>
                  <a:txBody>
                    <a:bodyPr wrap="square"/>
                    <a:lstStyle/>
                    <a:p>
                      <a:pPr algn="ctr"/>
                      <a:r>
                        <a:rPr sz="1100" b="1">
                          <a:solidFill>
                            <a:srgbClr val="FFFFFF"/>
                          </a:solidFill>
                        </a:rPr>
                        <a:t>harness</a:t>
                      </a:r>
                    </a:p>
                  </a:txBody>
                  <a:tcPr>
                    <a:solidFill>
                      <a:srgbClr val="354A9E"/>
                    </a:solidFill>
                  </a:tcPr>
                </a:tc>
                <a:tc>
                  <a:txBody>
                    <a:bodyPr wrap="square"/>
                    <a:lstStyle/>
                    <a:p>
                      <a:pPr algn="ctr"/>
                      <a:r>
                        <a:rPr sz="1100" b="1">
                          <a:solidFill>
                            <a:srgbClr val="FFFFFF"/>
                          </a:solidFill>
                        </a:rPr>
                        <a:t>tests</a:t>
                      </a:r>
                    </a:p>
                  </a:txBody>
                  <a:tcPr>
                    <a:solidFill>
                      <a:srgbClr val="354A9E"/>
                    </a:solidFill>
                  </a:tcPr>
                </a:tc>
                <a:tc>
                  <a:txBody>
                    <a:bodyPr wrap="square"/>
                    <a:lstStyle/>
                    <a:p>
                      <a:pPr algn="ctr"/>
                      <a:r>
                        <a:rPr sz="1100" b="1">
                          <a:solidFill>
                            <a:srgbClr val="FFFFFF"/>
                          </a:solidFill>
                        </a:rPr>
                        <a:t>gaps</a:t>
                      </a:r>
                    </a:p>
                  </a:txBody>
                  <a:tcPr>
                    <a:solidFill>
                      <a:srgbClr val="354A9E"/>
                    </a:solidFill>
                  </a:tcPr>
                </a:tc>
                <a:tc>
                  <a:txBody>
                    <a:bodyPr wrap="square"/>
                    <a:lstStyle/>
                    <a:p>
                      <a:pPr algn="ctr"/>
                      <a:r>
                        <a:rPr sz="1100" b="1">
                          <a:solidFill>
                            <a:srgbClr val="FFFFFF"/>
                          </a:solidFill>
                        </a:rPr>
                        <a:t>source</a:t>
                      </a:r>
                    </a:p>
                  </a:txBody>
                  <a:tcPr>
                    <a:solidFill>
                      <a:srgbClr val="354A9E"/>
                    </a:solidFill>
                  </a:tcPr>
                </a:tc>
                <a:tc>
                  <a:txBody>
                    <a:bodyPr wrap="square"/>
                    <a:lstStyle/>
                    <a:p>
                      <a:pPr algn="ctr"/>
                      <a:r>
                        <a:rPr sz="1100" b="1">
                          <a:solidFill>
                            <a:srgbClr val="FFFFFF"/>
                          </a:solidFill>
                        </a:rPr>
                        <a:t>notes</a:t>
                      </a:r>
                    </a:p>
                  </a:txBody>
                  <a:tcPr>
                    <a:solidFill>
                      <a:srgbClr val="354A9E"/>
                    </a:solidFill>
                  </a:tcPr>
                </a:tc>
              </a:tr>
              <a:tr h="384048">
                <a:tc>
                  <a:txBody>
                    <a:bodyPr wrap="square"/>
                    <a:lstStyle/>
                    <a:p>
                      <a:pPr algn="l"/>
                      <a:r>
                        <a:rPr sz="1100" b="0">
                          <a:solidFill>
                            <a:srgbClr val="1A1A2E"/>
                          </a:solidFill>
                        </a:rPr>
                        <a:t>exp1_full</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control A (the +110 winner)</a:t>
                      </a:r>
                    </a:p>
                  </a:txBody>
                  <a:tcPr/>
                </a:tc>
              </a:tr>
              <a:tr h="384048">
                <a:tc>
                  <a:txBody>
                    <a:bodyPr wrap="square"/>
                    <a:lstStyle/>
                    <a:p>
                      <a:pPr algn="l"/>
                      <a:r>
                        <a:rPr sz="1100" b="0">
                          <a:solidFill>
                            <a:srgbClr val="1A1A2E"/>
                          </a:solidFill>
                        </a:rPr>
                        <a:t>exp1_gaps_only</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strip tests from exp1</a:t>
                      </a:r>
                    </a:p>
                  </a:txBody>
                  <a:tcPr>
                    <a:solidFill>
                      <a:srgbClr val="EEF2FF"/>
                    </a:solidFill>
                  </a:tcPr>
                </a:tc>
              </a:tr>
              <a:tr h="384048">
                <a:tc>
                  <a:txBody>
                    <a:bodyPr wrap="square"/>
                    <a:lstStyle/>
                    <a:p>
                      <a:pPr algn="l"/>
                      <a:r>
                        <a:rPr sz="1100" b="0">
                          <a:solidFill>
                            <a:srgbClr val="1A1A2E"/>
                          </a:solidFill>
                        </a:rPr>
                        <a:t>exp1_tests_only</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strip gaps from exp1</a:t>
                      </a:r>
                    </a:p>
                  </a:txBody>
                  <a:tcPr/>
                </a:tc>
              </a:tr>
              <a:tr h="384048">
                <a:tc>
                  <a:txBody>
                    <a:bodyPr wrap="square"/>
                    <a:lstStyle/>
                    <a:p>
                      <a:pPr algn="l"/>
                      <a:r>
                        <a:rPr sz="1100" b="0">
                          <a:solidFill>
                            <a:srgbClr val="1A1A2E"/>
                          </a:solidFill>
                        </a:rPr>
                        <a:t>exp2_source</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control B (assert_no_tests on)</a:t>
                      </a:r>
                    </a:p>
                  </a:txBody>
                  <a:tcPr>
                    <a:solidFill>
                      <a:srgbClr val="EEF2FF"/>
                    </a:solidFill>
                  </a:tcPr>
                </a:tc>
              </a:tr>
              <a:tr h="384048">
                <a:tc>
                  <a:txBody>
                    <a:bodyPr wrap="square"/>
                    <a:lstStyle/>
                    <a:p>
                      <a:pPr algn="l"/>
                      <a:r>
                        <a:rPr sz="1100" b="0">
                          <a:solidFill>
                            <a:srgbClr val="1A1A2E"/>
                          </a:solidFill>
                        </a:rPr>
                        <a:t>exp2_plus_gaps</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source + gaps, no tests</a:t>
                      </a:r>
                    </a:p>
                  </a:txBody>
                  <a:tcPr/>
                </a:tc>
              </a:tr>
              <a:tr h="384048">
                <a:tc>
                  <a:txBody>
                    <a:bodyPr wrap="square"/>
                    <a:lstStyle/>
                    <a:p>
                      <a:pPr algn="l"/>
                      <a:r>
                        <a:rPr sz="1100" b="0">
                          <a:solidFill>
                            <a:srgbClr val="1A1A2E"/>
                          </a:solidFill>
                        </a:rPr>
                        <a:t>exp2_plus_tests</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source + tests, no gaps</a:t>
                      </a:r>
                    </a:p>
                  </a:txBody>
                  <a:tcPr>
                    <a:solidFill>
                      <a:srgbClr val="EEF2FF"/>
                    </a:solidFill>
                  </a:tcPr>
                </a:tc>
              </a:tr>
              <a:tr h="384048">
                <a:tc>
                  <a:txBody>
                    <a:bodyPr wrap="square"/>
                    <a:lstStyle/>
                    <a:p>
                      <a:pPr algn="l"/>
                      <a:r>
                        <a:rPr sz="1100" b="0">
                          <a:solidFill>
                            <a:srgbClr val="1A1A2E"/>
                          </a:solidFill>
                        </a:rPr>
                        <a:t>random</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no LLM; Random(42) body</a:t>
                      </a:r>
                    </a:p>
                  </a:txBody>
                  <a:tcPr/>
                </a:tc>
              </a:tr>
            </a:tbl>
          </a:graphicData>
        </a:graphic>
      </p:graphicFrame>
      <p:sp>
        <p:nvSpPr>
          <p:cNvPr id="6" name="TextBox 5"/>
          <p:cNvSpPr txBox="1"/>
          <p:nvPr/>
        </p:nvSpPr>
        <p:spPr>
          <a:xfrm>
            <a:off x="502920" y="4325112"/>
            <a:ext cx="11185855" cy="411480"/>
          </a:xfrm>
          <a:prstGeom prst="rect">
            <a:avLst/>
          </a:prstGeom>
          <a:noFill/>
        </p:spPr>
        <p:txBody>
          <a:bodyPr wrap="square">
            <a:spAutoFit/>
          </a:bodyPr>
          <a:lstStyle/>
          <a:p>
            <a:pPr algn="l"/>
            <a:r>
              <a:rPr sz="1200" b="0" i="0">
                <a:solidFill>
                  <a:srgbClr val="1A1A2E"/>
                </a:solidFill>
              </a:rPr>
              <a:t>Each ✓ is a Jinja block rendered into the same base template. The rest of the prompt (task description, output rules, JSON schema) is identical. This isolates the causal effect of each context block rather than confounding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Experiment B — 7-Cell Prompt Ablation</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Which piece of exp1's extra context (gaps vs tests) is actually load-bearing?</a:t>
            </a:r>
          </a:p>
        </p:txBody>
      </p:sp>
      <p:graphicFrame>
        <p:nvGraphicFramePr>
          <p:cNvPr id="5" name="Table 4"/>
          <p:cNvGraphicFramePr>
            <a:graphicFrameLocks noGrp="1"/>
          </p:cNvGraphicFramePr>
          <p:nvPr/>
        </p:nvGraphicFramePr>
        <p:xfrm>
          <a:off x="502920" y="1051560"/>
          <a:ext cx="9143999" cy="3218688"/>
        </p:xfrm>
        <a:graphic>
          <a:graphicData uri="http://schemas.openxmlformats.org/drawingml/2006/table">
            <a:tbl>
              <a:tblPr firstRow="1" bandRow="1">
                <a:tableStyleId>{5C22544A-7EE6-4342-B048-85BDC9FD1C3A}</a:tableStyleId>
              </a:tblPr>
              <a:tblGrid>
                <a:gridCol w="2286000"/>
                <a:gridCol w="731520"/>
                <a:gridCol w="731520"/>
                <a:gridCol w="822960"/>
                <a:gridCol w="822960"/>
                <a:gridCol w="3749039"/>
              </a:tblGrid>
              <a:tr h="402336">
                <a:tc>
                  <a:txBody>
                    <a:bodyPr wrap="square"/>
                    <a:lstStyle/>
                    <a:p>
                      <a:pPr algn="l"/>
                      <a:r>
                        <a:rPr sz="1100" b="1">
                          <a:solidFill>
                            <a:srgbClr val="FFFFFF"/>
                          </a:solidFill>
                        </a:rPr>
                        <a:t>cell</a:t>
                      </a:r>
                    </a:p>
                  </a:txBody>
                  <a:tcPr>
                    <a:solidFill>
                      <a:srgbClr val="354A9E"/>
                    </a:solidFill>
                  </a:tcPr>
                </a:tc>
                <a:tc>
                  <a:txBody>
                    <a:bodyPr wrap="square"/>
                    <a:lstStyle/>
                    <a:p>
                      <a:pPr algn="ctr"/>
                      <a:r>
                        <a:rPr sz="1100" b="1">
                          <a:solidFill>
                            <a:srgbClr val="FFFFFF"/>
                          </a:solidFill>
                        </a:rPr>
                        <a:t>gaps</a:t>
                      </a:r>
                    </a:p>
                  </a:txBody>
                  <a:tcPr>
                    <a:solidFill>
                      <a:srgbClr val="354A9E"/>
                    </a:solidFill>
                  </a:tcPr>
                </a:tc>
                <a:tc>
                  <a:txBody>
                    <a:bodyPr wrap="square"/>
                    <a:lstStyle/>
                    <a:p>
                      <a:pPr algn="ctr"/>
                      <a:r>
                        <a:rPr sz="1100" b="1">
                          <a:solidFill>
                            <a:srgbClr val="FFFFFF"/>
                          </a:solidFill>
                        </a:rPr>
                        <a:t>tests</a:t>
                      </a:r>
                    </a:p>
                  </a:txBody>
                  <a:tcPr>
                    <a:solidFill>
                      <a:srgbClr val="354A9E"/>
                    </a:solidFill>
                  </a:tcPr>
                </a:tc>
                <a:tc>
                  <a:txBody>
                    <a:bodyPr wrap="square"/>
                    <a:lstStyle/>
                    <a:p>
                      <a:pPr algn="ctr"/>
                      <a:r>
                        <a:rPr sz="1100" b="1">
                          <a:solidFill>
                            <a:srgbClr val="FFFFFF"/>
                          </a:solidFill>
                        </a:rPr>
                        <a:t>source</a:t>
                      </a:r>
                    </a:p>
                  </a:txBody>
                  <a:tcPr>
                    <a:solidFill>
                      <a:srgbClr val="354A9E"/>
                    </a:solidFill>
                  </a:tcPr>
                </a:tc>
                <a:tc>
                  <a:txBody>
                    <a:bodyPr wrap="square"/>
                    <a:lstStyle/>
                    <a:p>
                      <a:pPr algn="ctr"/>
                      <a:r>
                        <a:rPr sz="1100" b="1">
                          <a:solidFill>
                            <a:srgbClr val="FFFFFF"/>
                          </a:solidFill>
                        </a:rPr>
                        <a:t>edges</a:t>
                      </a:r>
                    </a:p>
                  </a:txBody>
                  <a:tcPr>
                    <a:solidFill>
                      <a:srgbClr val="354A9E"/>
                    </a:solidFill>
                  </a:tcPr>
                </a:tc>
                <a:tc>
                  <a:txBody>
                    <a:bodyPr wrap="square"/>
                    <a:lstStyle/>
                    <a:p>
                      <a:pPr algn="ctr"/>
                      <a:r>
                        <a:rPr sz="1100" b="1">
                          <a:solidFill>
                            <a:srgbClr val="FFFFFF"/>
                          </a:solidFill>
                        </a:rPr>
                        <a:t>Δ vs exp1_full</a:t>
                      </a:r>
                    </a:p>
                  </a:txBody>
                  <a:tcPr>
                    <a:solidFill>
                      <a:srgbClr val="354A9E"/>
                    </a:solidFill>
                  </a:tcPr>
                </a:tc>
              </a:tr>
              <a:tr h="402336">
                <a:tc>
                  <a:txBody>
                    <a:bodyPr wrap="square"/>
                    <a:lstStyle/>
                    <a:p>
                      <a:pPr algn="l"/>
                      <a:r>
                        <a:rPr sz="1100" b="0">
                          <a:solidFill>
                            <a:srgbClr val="1A1A2E"/>
                          </a:solidFill>
                        </a:rPr>
                        <a:t>exp2_plus_gaps</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1250</a:t>
                      </a:r>
                    </a:p>
                  </a:txBody>
                  <a:tcPr/>
                </a:tc>
                <a:tc>
                  <a:txBody>
                    <a:bodyPr wrap="square"/>
                    <a:lstStyle/>
                    <a:p>
                      <a:pPr algn="ctr"/>
                      <a:r>
                        <a:rPr sz="1100" b="0">
                          <a:solidFill>
                            <a:srgbClr val="1A1A2E"/>
                          </a:solidFill>
                        </a:rPr>
                        <a:t>+7</a:t>
                      </a:r>
                    </a:p>
                  </a:txBody>
                  <a:tcPr/>
                </a:tc>
              </a:tr>
              <a:tr h="402336">
                <a:tc>
                  <a:txBody>
                    <a:bodyPr wrap="square"/>
                    <a:lstStyle/>
                    <a:p>
                      <a:pPr algn="l"/>
                      <a:r>
                        <a:rPr sz="1100" b="0">
                          <a:solidFill>
                            <a:srgbClr val="1A1A2E"/>
                          </a:solidFill>
                        </a:rPr>
                        <a:t>exp1_full</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1243</a:t>
                      </a:r>
                    </a:p>
                  </a:txBody>
                  <a:tcPr>
                    <a:solidFill>
                      <a:srgbClr val="EEF2FF"/>
                    </a:solidFill>
                  </a:tcPr>
                </a:tc>
                <a:tc>
                  <a:txBody>
                    <a:bodyPr wrap="square"/>
                    <a:lstStyle/>
                    <a:p>
                      <a:pPr algn="ctr"/>
                      <a:r>
                        <a:rPr sz="1100" b="0">
                          <a:solidFill>
                            <a:srgbClr val="1A1A2E"/>
                          </a:solidFill>
                        </a:rPr>
                        <a:t>0  (control)</a:t>
                      </a:r>
                    </a:p>
                  </a:txBody>
                  <a:tcPr>
                    <a:solidFill>
                      <a:srgbClr val="EEF2FF"/>
                    </a:solidFill>
                  </a:tcPr>
                </a:tc>
              </a:tr>
              <a:tr h="402336">
                <a:tc>
                  <a:txBody>
                    <a:bodyPr wrap="square"/>
                    <a:lstStyle/>
                    <a:p>
                      <a:pPr algn="l"/>
                      <a:r>
                        <a:rPr sz="1100" b="0">
                          <a:solidFill>
                            <a:srgbClr val="1A1A2E"/>
                          </a:solidFill>
                        </a:rPr>
                        <a:t>exp2_plus_tests</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1210</a:t>
                      </a:r>
                    </a:p>
                  </a:txBody>
                  <a:tcPr/>
                </a:tc>
                <a:tc>
                  <a:txBody>
                    <a:bodyPr wrap="square"/>
                    <a:lstStyle/>
                    <a:p>
                      <a:pPr algn="ctr"/>
                      <a:r>
                        <a:rPr sz="1100" b="0">
                          <a:solidFill>
                            <a:srgbClr val="1A1A2E"/>
                          </a:solidFill>
                        </a:rPr>
                        <a:t>−33</a:t>
                      </a:r>
                    </a:p>
                  </a:txBody>
                  <a:tcPr/>
                </a:tc>
              </a:tr>
              <a:tr h="402336">
                <a:tc>
                  <a:txBody>
                    <a:bodyPr wrap="square"/>
                    <a:lstStyle/>
                    <a:p>
                      <a:pPr algn="l"/>
                      <a:r>
                        <a:rPr sz="1100" b="0">
                          <a:solidFill>
                            <a:srgbClr val="1A1A2E"/>
                          </a:solidFill>
                        </a:rPr>
                        <a:t>exp2_source</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1133</a:t>
                      </a:r>
                    </a:p>
                  </a:txBody>
                  <a:tcPr>
                    <a:solidFill>
                      <a:srgbClr val="EEF2FF"/>
                    </a:solidFill>
                  </a:tcPr>
                </a:tc>
                <a:tc>
                  <a:txBody>
                    <a:bodyPr wrap="square"/>
                    <a:lstStyle/>
                    <a:p>
                      <a:pPr algn="ctr"/>
                      <a:r>
                        <a:rPr sz="1100" b="0">
                          <a:solidFill>
                            <a:srgbClr val="1A1A2E"/>
                          </a:solidFill>
                        </a:rPr>
                        <a:t>−110</a:t>
                      </a:r>
                    </a:p>
                  </a:txBody>
                  <a:tcPr>
                    <a:solidFill>
                      <a:srgbClr val="EEF2FF"/>
                    </a:solidFill>
                  </a:tcPr>
                </a:tc>
              </a:tr>
              <a:tr h="402336">
                <a:tc>
                  <a:txBody>
                    <a:bodyPr wrap="square"/>
                    <a:lstStyle/>
                    <a:p>
                      <a:pPr algn="l"/>
                      <a:r>
                        <a:rPr sz="1100" b="0">
                          <a:solidFill>
                            <a:srgbClr val="1A1A2E"/>
                          </a:solidFill>
                        </a:rPr>
                        <a:t>exp1_tests_only</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1093</a:t>
                      </a:r>
                    </a:p>
                  </a:txBody>
                  <a:tcPr/>
                </a:tc>
                <a:tc>
                  <a:txBody>
                    <a:bodyPr wrap="square"/>
                    <a:lstStyle/>
                    <a:p>
                      <a:pPr algn="ctr"/>
                      <a:r>
                        <a:rPr sz="1100" b="0">
                          <a:solidFill>
                            <a:srgbClr val="1A1A2E"/>
                          </a:solidFill>
                        </a:rPr>
                        <a:t>−150</a:t>
                      </a:r>
                    </a:p>
                  </a:txBody>
                  <a:tcPr/>
                </a:tc>
              </a:tr>
              <a:tr h="402336">
                <a:tc>
                  <a:txBody>
                    <a:bodyPr wrap="square"/>
                    <a:lstStyle/>
                    <a:p>
                      <a:pPr algn="l"/>
                      <a:r>
                        <a:rPr sz="1100" b="0">
                          <a:solidFill>
                            <a:srgbClr val="1A1A2E"/>
                          </a:solidFill>
                        </a:rPr>
                        <a:t>random</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a:t>
                      </a:r>
                    </a:p>
                  </a:txBody>
                  <a:tcPr>
                    <a:solidFill>
                      <a:srgbClr val="EEF2FF"/>
                    </a:solidFill>
                  </a:tcPr>
                </a:tc>
                <a:tc>
                  <a:txBody>
                    <a:bodyPr wrap="square"/>
                    <a:lstStyle/>
                    <a:p>
                      <a:pPr algn="ctr"/>
                      <a:r>
                        <a:rPr sz="1100" b="0">
                          <a:solidFill>
                            <a:srgbClr val="1A1A2E"/>
                          </a:solidFill>
                        </a:rPr>
                        <a:t>980</a:t>
                      </a:r>
                    </a:p>
                  </a:txBody>
                  <a:tcPr>
                    <a:solidFill>
                      <a:srgbClr val="EEF2FF"/>
                    </a:solidFill>
                  </a:tcPr>
                </a:tc>
                <a:tc>
                  <a:txBody>
                    <a:bodyPr wrap="square"/>
                    <a:lstStyle/>
                    <a:p>
                      <a:pPr algn="ctr"/>
                      <a:r>
                        <a:rPr sz="1100" b="0">
                          <a:solidFill>
                            <a:srgbClr val="1A1A2E"/>
                          </a:solidFill>
                        </a:rPr>
                        <a:t>−263</a:t>
                      </a:r>
                    </a:p>
                  </a:txBody>
                  <a:tcPr>
                    <a:solidFill>
                      <a:srgbClr val="EEF2FF"/>
                    </a:solidFill>
                  </a:tcPr>
                </a:tc>
              </a:tr>
              <a:tr h="402336">
                <a:tc>
                  <a:txBody>
                    <a:bodyPr wrap="square"/>
                    <a:lstStyle/>
                    <a:p>
                      <a:pPr algn="l"/>
                      <a:r>
                        <a:rPr sz="1100" b="0">
                          <a:solidFill>
                            <a:srgbClr val="1A1A2E"/>
                          </a:solidFill>
                        </a:rPr>
                        <a:t>exp1_gaps_only *</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a:t>
                      </a:r>
                    </a:p>
                  </a:txBody>
                  <a:tcPr/>
                </a:tc>
                <a:tc>
                  <a:txBody>
                    <a:bodyPr wrap="square"/>
                    <a:lstStyle/>
                    <a:p>
                      <a:pPr algn="ctr"/>
                      <a:r>
                        <a:rPr sz="1100" b="0">
                          <a:solidFill>
                            <a:srgbClr val="1A1A2E"/>
                          </a:solidFill>
                        </a:rPr>
                        <a:t>879</a:t>
                      </a:r>
                    </a:p>
                  </a:txBody>
                  <a:tcPr/>
                </a:tc>
                <a:tc>
                  <a:txBody>
                    <a:bodyPr wrap="square"/>
                    <a:lstStyle/>
                    <a:p>
                      <a:pPr algn="ctr"/>
                      <a:r>
                        <a:rPr sz="1100" b="0">
                          <a:solidFill>
                            <a:srgbClr val="1A1A2E"/>
                          </a:solidFill>
                        </a:rPr>
                        <a:t>−364</a:t>
                      </a:r>
                    </a:p>
                  </a:txBody>
                  <a:tcPr/>
                </a:tc>
              </a:tr>
            </a:tbl>
          </a:graphicData>
        </a:graphic>
      </p:graphicFrame>
      <p:sp>
        <p:nvSpPr>
          <p:cNvPr id="6" name="Rectangle 5"/>
          <p:cNvSpPr/>
          <p:nvPr/>
        </p:nvSpPr>
        <p:spPr>
          <a:xfrm>
            <a:off x="502920" y="4453128"/>
            <a:ext cx="3637178" cy="8229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498848"/>
            <a:ext cx="3454298" cy="274320"/>
          </a:xfrm>
          <a:prstGeom prst="rect">
            <a:avLst/>
          </a:prstGeom>
          <a:noFill/>
        </p:spPr>
        <p:txBody>
          <a:bodyPr wrap="square">
            <a:spAutoFit/>
          </a:bodyPr>
          <a:lstStyle/>
          <a:p>
            <a:pPr algn="l"/>
            <a:r>
              <a:rPr sz="1200" b="1" i="0">
                <a:solidFill>
                  <a:srgbClr val="1E2761"/>
                </a:solidFill>
              </a:rPr>
              <a:t>1. Source is load-bearing.</a:t>
            </a:r>
          </a:p>
        </p:txBody>
      </p:sp>
      <p:sp>
        <p:nvSpPr>
          <p:cNvPr id="8" name="TextBox 7"/>
          <p:cNvSpPr txBox="1"/>
          <p:nvPr/>
        </p:nvSpPr>
        <p:spPr>
          <a:xfrm>
            <a:off x="594360" y="4800600"/>
            <a:ext cx="3454298" cy="457200"/>
          </a:xfrm>
          <a:prstGeom prst="rect">
            <a:avLst/>
          </a:prstGeom>
          <a:noFill/>
        </p:spPr>
        <p:txBody>
          <a:bodyPr wrap="square">
            <a:spAutoFit/>
          </a:bodyPr>
          <a:lstStyle/>
          <a:p>
            <a:pPr algn="l"/>
            <a:r>
              <a:rPr sz="1100" b="0" i="0">
                <a:solidFill>
                  <a:srgbClr val="1A1A2E"/>
                </a:solidFill>
              </a:rPr>
              <a:t>All source cells ≥ 1133 edges.</a:t>
            </a:r>
          </a:p>
        </p:txBody>
      </p:sp>
      <p:sp>
        <p:nvSpPr>
          <p:cNvPr id="9" name="Rectangle 8"/>
          <p:cNvSpPr/>
          <p:nvPr/>
        </p:nvSpPr>
        <p:spPr>
          <a:xfrm>
            <a:off x="4231538" y="4453128"/>
            <a:ext cx="3637178" cy="8229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2978" y="4498848"/>
            <a:ext cx="3454298" cy="274320"/>
          </a:xfrm>
          <a:prstGeom prst="rect">
            <a:avLst/>
          </a:prstGeom>
          <a:noFill/>
        </p:spPr>
        <p:txBody>
          <a:bodyPr wrap="square">
            <a:spAutoFit/>
          </a:bodyPr>
          <a:lstStyle/>
          <a:p>
            <a:pPr algn="l"/>
            <a:r>
              <a:rPr sz="1200" b="1" i="0">
                <a:solidFill>
                  <a:srgbClr val="1E2761"/>
                </a:solidFill>
              </a:rPr>
              <a:t>2. Gaps amplify source.</a:t>
            </a:r>
          </a:p>
        </p:txBody>
      </p:sp>
      <p:sp>
        <p:nvSpPr>
          <p:cNvPr id="11" name="TextBox 10"/>
          <p:cNvSpPr txBox="1"/>
          <p:nvPr/>
        </p:nvSpPr>
        <p:spPr>
          <a:xfrm>
            <a:off x="4322978" y="4800600"/>
            <a:ext cx="3454298" cy="457200"/>
          </a:xfrm>
          <a:prstGeom prst="rect">
            <a:avLst/>
          </a:prstGeom>
          <a:noFill/>
        </p:spPr>
        <p:txBody>
          <a:bodyPr wrap="square">
            <a:spAutoFit/>
          </a:bodyPr>
          <a:lstStyle/>
          <a:p>
            <a:pPr algn="l"/>
            <a:r>
              <a:rPr sz="1100" b="0" i="0">
                <a:solidFill>
                  <a:srgbClr val="1A1A2E"/>
                </a:solidFill>
              </a:rPr>
              <a:t>exp2_plus_gaps beats exp2_source by +117 — the largest single-variable effect.</a:t>
            </a:r>
          </a:p>
        </p:txBody>
      </p:sp>
      <p:sp>
        <p:nvSpPr>
          <p:cNvPr id="12" name="Rectangle 11"/>
          <p:cNvSpPr/>
          <p:nvPr/>
        </p:nvSpPr>
        <p:spPr>
          <a:xfrm>
            <a:off x="7960156" y="4453128"/>
            <a:ext cx="3637178" cy="82296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51596" y="4498848"/>
            <a:ext cx="3454298" cy="274320"/>
          </a:xfrm>
          <a:prstGeom prst="rect">
            <a:avLst/>
          </a:prstGeom>
          <a:noFill/>
        </p:spPr>
        <p:txBody>
          <a:bodyPr wrap="square">
            <a:spAutoFit/>
          </a:bodyPr>
          <a:lstStyle/>
          <a:p>
            <a:pPr algn="l"/>
            <a:r>
              <a:rPr sz="1200" b="1" i="0">
                <a:solidFill>
                  <a:srgbClr val="1E2761"/>
                </a:solidFill>
              </a:rPr>
              <a:t>3. Tests alone ≈ source alone.</a:t>
            </a:r>
          </a:p>
        </p:txBody>
      </p:sp>
      <p:sp>
        <p:nvSpPr>
          <p:cNvPr id="14" name="TextBox 13"/>
          <p:cNvSpPr txBox="1"/>
          <p:nvPr/>
        </p:nvSpPr>
        <p:spPr>
          <a:xfrm>
            <a:off x="8051596" y="4800600"/>
            <a:ext cx="3454298" cy="457200"/>
          </a:xfrm>
          <a:prstGeom prst="rect">
            <a:avLst/>
          </a:prstGeom>
          <a:noFill/>
        </p:spPr>
        <p:txBody>
          <a:bodyPr wrap="square">
            <a:spAutoFit/>
          </a:bodyPr>
          <a:lstStyle/>
          <a:p>
            <a:pPr algn="l"/>
            <a:r>
              <a:rPr sz="1100" b="0" i="0">
                <a:solidFill>
                  <a:srgbClr val="1A1A2E"/>
                </a:solidFill>
              </a:rPr>
              <a:t>1093 vs 1133 — similar floors, no multiplicative effect.</a:t>
            </a:r>
          </a:p>
        </p:txBody>
      </p:sp>
      <p:sp>
        <p:nvSpPr>
          <p:cNvPr id="15" name="TextBox 14"/>
          <p:cNvSpPr txBox="1"/>
          <p:nvPr/>
        </p:nvSpPr>
        <p:spPr>
          <a:xfrm>
            <a:off x="502920" y="6473952"/>
            <a:ext cx="11185855" cy="274320"/>
          </a:xfrm>
          <a:prstGeom prst="rect">
            <a:avLst/>
          </a:prstGeom>
          <a:noFill/>
        </p:spPr>
        <p:txBody>
          <a:bodyPr wrap="square">
            <a:spAutoFit/>
          </a:bodyPr>
          <a:lstStyle/>
          <a:p>
            <a:pPr algn="l"/>
            <a:r>
              <a:rPr sz="1000" b="0" i="1">
                <a:solidFill>
                  <a:srgbClr val="556080"/>
                </a:solidFill>
              </a:rPr>
              <a:t>* exp1_gaps_only: 2/3 samples loop-aborted — dense gap list without source/tests derails llama-3.1-8b. May be model-specific.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Verdict — Hypothesis Supported, With a Sharper Recipe</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User hypothesis: exp2 generalizes better than exp1</a:t>
            </a:r>
          </a:p>
        </p:txBody>
      </p:sp>
      <p:sp>
        <p:nvSpPr>
          <p:cNvPr id="5" name="Rectangle 4"/>
          <p:cNvSpPr/>
          <p:nvPr/>
        </p:nvSpPr>
        <p:spPr>
          <a:xfrm>
            <a:off x="502920" y="1051560"/>
            <a:ext cx="13716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252728"/>
            <a:ext cx="1234440" cy="502920"/>
          </a:xfrm>
          <a:prstGeom prst="rect">
            <a:avLst/>
          </a:prstGeom>
          <a:noFill/>
        </p:spPr>
        <p:txBody>
          <a:bodyPr wrap="square">
            <a:spAutoFit/>
          </a:bodyPr>
          <a:lstStyle/>
          <a:p>
            <a:pPr algn="ctr"/>
            <a:r>
              <a:rPr sz="2000" b="1" i="0">
                <a:solidFill>
                  <a:srgbClr val="FFFFFF"/>
                </a:solidFill>
              </a:rPr>
              <a:t>+110 edges</a:t>
            </a:r>
          </a:p>
        </p:txBody>
      </p:sp>
      <p:sp>
        <p:nvSpPr>
          <p:cNvPr id="7" name="TextBox 6"/>
          <p:cNvSpPr txBox="1"/>
          <p:nvPr/>
        </p:nvSpPr>
        <p:spPr>
          <a:xfrm>
            <a:off x="2011680" y="1097280"/>
            <a:ext cx="5369210" cy="365760"/>
          </a:xfrm>
          <a:prstGeom prst="rect">
            <a:avLst/>
          </a:prstGeom>
          <a:noFill/>
        </p:spPr>
        <p:txBody>
          <a:bodyPr wrap="square">
            <a:spAutoFit/>
          </a:bodyPr>
          <a:lstStyle/>
          <a:p>
            <a:pPr algn="l"/>
            <a:r>
              <a:rPr sz="1300" b="0" i="0">
                <a:solidFill>
                  <a:srgbClr val="1A1A2E"/>
                </a:solidFill>
              </a:rPr>
              <a:t>in-distribution (same files gap list points at)</a:t>
            </a:r>
          </a:p>
        </p:txBody>
      </p:sp>
      <p:sp>
        <p:nvSpPr>
          <p:cNvPr id="8" name="TextBox 7"/>
          <p:cNvSpPr txBox="1"/>
          <p:nvPr/>
        </p:nvSpPr>
        <p:spPr>
          <a:xfrm>
            <a:off x="2011680" y="1508760"/>
            <a:ext cx="5369210" cy="347472"/>
          </a:xfrm>
          <a:prstGeom prst="rect">
            <a:avLst/>
          </a:prstGeom>
          <a:noFill/>
        </p:spPr>
        <p:txBody>
          <a:bodyPr wrap="square">
            <a:spAutoFit/>
          </a:bodyPr>
          <a:lstStyle/>
          <a:p>
            <a:pPr algn="l"/>
            <a:r>
              <a:rPr sz="1300" b="1" i="0">
                <a:solidFill>
                  <a:srgbClr val="1B681B"/>
                </a:solidFill>
              </a:rPr>
              <a:t>exp1 wins decisively</a:t>
            </a:r>
          </a:p>
        </p:txBody>
      </p:sp>
      <p:sp>
        <p:nvSpPr>
          <p:cNvPr id="9" name="Rectangle 8"/>
          <p:cNvSpPr/>
          <p:nvPr/>
        </p:nvSpPr>
        <p:spPr>
          <a:xfrm>
            <a:off x="502920" y="2103120"/>
            <a:ext cx="13716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2304288"/>
            <a:ext cx="1234440" cy="502920"/>
          </a:xfrm>
          <a:prstGeom prst="rect">
            <a:avLst/>
          </a:prstGeom>
          <a:noFill/>
        </p:spPr>
        <p:txBody>
          <a:bodyPr wrap="square">
            <a:spAutoFit/>
          </a:bodyPr>
          <a:lstStyle/>
          <a:p>
            <a:pPr algn="ctr"/>
            <a:r>
              <a:rPr sz="2000" b="1" i="0">
                <a:solidFill>
                  <a:srgbClr val="FFFFFF"/>
                </a:solidFill>
              </a:rPr>
              <a:t>+3 edges</a:t>
            </a:r>
          </a:p>
        </p:txBody>
      </p:sp>
      <p:sp>
        <p:nvSpPr>
          <p:cNvPr id="11" name="TextBox 10"/>
          <p:cNvSpPr txBox="1"/>
          <p:nvPr/>
        </p:nvSpPr>
        <p:spPr>
          <a:xfrm>
            <a:off x="2011680" y="2148840"/>
            <a:ext cx="5369210" cy="365760"/>
          </a:xfrm>
          <a:prstGeom prst="rect">
            <a:avLst/>
          </a:prstGeom>
          <a:noFill/>
        </p:spPr>
        <p:txBody>
          <a:bodyPr wrap="square">
            <a:spAutoFit/>
          </a:bodyPr>
          <a:lstStyle/>
          <a:p>
            <a:pPr algn="l"/>
            <a:r>
              <a:rPr sz="1300" b="0" i="0">
                <a:solidFill>
                  <a:srgbClr val="1A1A2E"/>
                </a:solidFill>
              </a:rPr>
              <a:t>held-out files within same target (Exp A)</a:t>
            </a:r>
          </a:p>
        </p:txBody>
      </p:sp>
      <p:sp>
        <p:nvSpPr>
          <p:cNvPr id="12" name="TextBox 11"/>
          <p:cNvSpPr txBox="1"/>
          <p:nvPr/>
        </p:nvSpPr>
        <p:spPr>
          <a:xfrm>
            <a:off x="2011680" y="2560320"/>
            <a:ext cx="5369210" cy="347472"/>
          </a:xfrm>
          <a:prstGeom prst="rect">
            <a:avLst/>
          </a:prstGeom>
          <a:noFill/>
        </p:spPr>
        <p:txBody>
          <a:bodyPr wrap="square">
            <a:spAutoFit/>
          </a:bodyPr>
          <a:lstStyle/>
          <a:p>
            <a:pPr algn="l"/>
            <a:r>
              <a:rPr sz="1300" b="1" i="0">
                <a:solidFill>
                  <a:srgbClr val="556080"/>
                </a:solidFill>
              </a:rPr>
              <a:t>advantage collapses</a:t>
            </a:r>
          </a:p>
        </p:txBody>
      </p:sp>
      <p:sp>
        <p:nvSpPr>
          <p:cNvPr id="13" name="Rectangle 12"/>
          <p:cNvSpPr/>
          <p:nvPr/>
        </p:nvSpPr>
        <p:spPr>
          <a:xfrm>
            <a:off x="502920" y="3154680"/>
            <a:ext cx="13716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3355848"/>
            <a:ext cx="1234440" cy="502920"/>
          </a:xfrm>
          <a:prstGeom prst="rect">
            <a:avLst/>
          </a:prstGeom>
          <a:noFill/>
        </p:spPr>
        <p:txBody>
          <a:bodyPr wrap="square">
            <a:spAutoFit/>
          </a:bodyPr>
          <a:lstStyle/>
          <a:p>
            <a:pPr algn="ctr"/>
            <a:r>
              <a:rPr sz="2000" b="1" i="0">
                <a:solidFill>
                  <a:srgbClr val="FFFFFF"/>
                </a:solidFill>
              </a:rPr>
              <a:t>−15 edges</a:t>
            </a:r>
          </a:p>
        </p:txBody>
      </p:sp>
      <p:sp>
        <p:nvSpPr>
          <p:cNvPr id="15" name="TextBox 14"/>
          <p:cNvSpPr txBox="1"/>
          <p:nvPr/>
        </p:nvSpPr>
        <p:spPr>
          <a:xfrm>
            <a:off x="2011680" y="3200400"/>
            <a:ext cx="5369210" cy="365760"/>
          </a:xfrm>
          <a:prstGeom prst="rect">
            <a:avLst/>
          </a:prstGeom>
          <a:noFill/>
        </p:spPr>
        <p:txBody>
          <a:bodyPr wrap="square">
            <a:spAutoFit/>
          </a:bodyPr>
          <a:lstStyle/>
          <a:p>
            <a:pPr algn="l"/>
            <a:r>
              <a:rPr sz="1300" b="0" i="0">
                <a:solidFill>
                  <a:srgbClr val="1A1A2E"/>
                </a:solidFill>
              </a:rPr>
              <a:t>gap list restricted to disjoint file set (Exp A)</a:t>
            </a:r>
          </a:p>
        </p:txBody>
      </p:sp>
      <p:sp>
        <p:nvSpPr>
          <p:cNvPr id="16" name="TextBox 15"/>
          <p:cNvSpPr txBox="1"/>
          <p:nvPr/>
        </p:nvSpPr>
        <p:spPr>
          <a:xfrm>
            <a:off x="2011680" y="3611880"/>
            <a:ext cx="5369210" cy="347472"/>
          </a:xfrm>
          <a:prstGeom prst="rect">
            <a:avLst/>
          </a:prstGeom>
          <a:noFill/>
        </p:spPr>
        <p:txBody>
          <a:bodyPr wrap="square">
            <a:spAutoFit/>
          </a:bodyPr>
          <a:lstStyle/>
          <a:p>
            <a:pPr algn="l"/>
            <a:r>
              <a:rPr sz="1300" b="1" i="0">
                <a:solidFill>
                  <a:srgbClr val="B01C1C"/>
                </a:solidFill>
              </a:rPr>
              <a:t>exp1 loses to exp2</a:t>
            </a:r>
          </a:p>
        </p:txBody>
      </p:sp>
      <p:sp>
        <p:nvSpPr>
          <p:cNvPr id="17" name="Rectangle 16"/>
          <p:cNvSpPr/>
          <p:nvPr/>
        </p:nvSpPr>
        <p:spPr>
          <a:xfrm>
            <a:off x="502920" y="4343400"/>
            <a:ext cx="11185855" cy="6400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53128"/>
            <a:ext cx="10911535" cy="457200"/>
          </a:xfrm>
          <a:prstGeom prst="rect">
            <a:avLst/>
          </a:prstGeom>
          <a:noFill/>
        </p:spPr>
        <p:txBody>
          <a:bodyPr wrap="square">
            <a:spAutoFit/>
          </a:bodyPr>
          <a:lstStyle/>
          <a:p>
            <a:pPr algn="l"/>
            <a:r>
              <a:rPr sz="1300" b="0" i="0">
                <a:solidFill>
                  <a:srgbClr val="FFFFFF"/>
                </a:solidFill>
              </a:rPr>
              <a:t>Best recipe on this fixture: exp2_plus_gaps (source + coverage gaps, no tests) → +7 over exp1_full, +117 over exp2_source. The right baseline is not exp1 or exp2 — it's source + cheap coverage annotations.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What This Does NOT Prove</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Scope of evidence; open questions</a:t>
            </a:r>
          </a:p>
        </p:txBody>
      </p:sp>
      <p:sp>
        <p:nvSpPr>
          <p:cNvPr id="5" name="Rectangle 4"/>
          <p:cNvSpPr/>
          <p:nvPr/>
        </p:nvSpPr>
        <p:spPr>
          <a:xfrm>
            <a:off x="502920" y="1051560"/>
            <a:ext cx="73152" cy="10789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51560"/>
            <a:ext cx="10957255" cy="292608"/>
          </a:xfrm>
          <a:prstGeom prst="rect">
            <a:avLst/>
          </a:prstGeom>
          <a:noFill/>
        </p:spPr>
        <p:txBody>
          <a:bodyPr wrap="square">
            <a:spAutoFit/>
          </a:bodyPr>
          <a:lstStyle/>
          <a:p>
            <a:pPr algn="l"/>
            <a:r>
              <a:rPr sz="1400" b="1" i="0">
                <a:solidFill>
                  <a:srgbClr val="1E2761"/>
                </a:solidFill>
              </a:rPr>
              <a:t>Single target, single model.</a:t>
            </a:r>
          </a:p>
        </p:txBody>
      </p:sp>
      <p:sp>
        <p:nvSpPr>
          <p:cNvPr id="7" name="TextBox 6"/>
          <p:cNvSpPr txBox="1"/>
          <p:nvPr/>
        </p:nvSpPr>
        <p:spPr>
          <a:xfrm>
            <a:off x="685800" y="1380744"/>
            <a:ext cx="10957255" cy="749808"/>
          </a:xfrm>
          <a:prstGeom prst="rect">
            <a:avLst/>
          </a:prstGeom>
          <a:noFill/>
        </p:spPr>
        <p:txBody>
          <a:bodyPr wrap="square">
            <a:spAutoFit/>
          </a:bodyPr>
          <a:lstStyle/>
          <a:p>
            <a:pPr algn="l"/>
            <a:r>
              <a:rPr sz="1300" b="0" i="0">
                <a:solidFill>
                  <a:srgbClr val="1A1A2E"/>
                </a:solidFill>
              </a:rPr>
              <a:t>Held-out subset test is intra-target. Cross-target transfer is open. Need a second target in its own native idiom (sqlite → SQL, libpng → binary header) before claiming the recipe generalizes.</a:t>
            </a:r>
          </a:p>
        </p:txBody>
      </p:sp>
      <p:sp>
        <p:nvSpPr>
          <p:cNvPr id="8" name="Rectangle 7"/>
          <p:cNvSpPr/>
          <p:nvPr/>
        </p:nvSpPr>
        <p:spPr>
          <a:xfrm>
            <a:off x="502920" y="2240280"/>
            <a:ext cx="73152" cy="10789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40280"/>
            <a:ext cx="10957255" cy="292608"/>
          </a:xfrm>
          <a:prstGeom prst="rect">
            <a:avLst/>
          </a:prstGeom>
          <a:noFill/>
        </p:spPr>
        <p:txBody>
          <a:bodyPr wrap="square">
            <a:spAutoFit/>
          </a:bodyPr>
          <a:lstStyle/>
          <a:p>
            <a:pPr algn="l"/>
            <a:r>
              <a:rPr sz="1400" b="1" i="0">
                <a:solidFill>
                  <a:srgbClr val="1E2761"/>
                </a:solidFill>
              </a:rPr>
              <a:t>No libFuzzer campaign numbers.</a:t>
            </a:r>
          </a:p>
        </p:txBody>
      </p:sp>
      <p:sp>
        <p:nvSpPr>
          <p:cNvPr id="10" name="TextBox 9"/>
          <p:cNvSpPr txBox="1"/>
          <p:nvPr/>
        </p:nvSpPr>
        <p:spPr>
          <a:xfrm>
            <a:off x="685800" y="2569464"/>
            <a:ext cx="10957255" cy="749808"/>
          </a:xfrm>
          <a:prstGeom prst="rect">
            <a:avLst/>
          </a:prstGeom>
          <a:noFill/>
        </p:spPr>
        <p:txBody>
          <a:bodyPr wrap="square">
            <a:spAutoFit/>
          </a:bodyPr>
          <a:lstStyle/>
          <a:p>
            <a:pPr algn="l"/>
            <a:r>
              <a:rPr sz="1300" b="0" i="0">
                <a:solidFill>
                  <a:srgbClr val="1A1A2E"/>
                </a:solidFill>
              </a:rPr>
              <a:t>This deck measures the seed corpus directly. The research-relevant metric is 24h-campaign coverage starting from each seed set (Experiment C, deferred — ~9 CPU-hours).</a:t>
            </a:r>
          </a:p>
        </p:txBody>
      </p:sp>
      <p:sp>
        <p:nvSpPr>
          <p:cNvPr id="11" name="Rectangle 10"/>
          <p:cNvSpPr/>
          <p:nvPr/>
        </p:nvSpPr>
        <p:spPr>
          <a:xfrm>
            <a:off x="502920" y="3429000"/>
            <a:ext cx="73152" cy="10789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429000"/>
            <a:ext cx="10957255" cy="292608"/>
          </a:xfrm>
          <a:prstGeom prst="rect">
            <a:avLst/>
          </a:prstGeom>
          <a:noFill/>
        </p:spPr>
        <p:txBody>
          <a:bodyPr wrap="square">
            <a:spAutoFit/>
          </a:bodyPr>
          <a:lstStyle/>
          <a:p>
            <a:pPr algn="l"/>
            <a:r>
              <a:rPr sz="1400" b="1" i="0">
                <a:solidFill>
                  <a:srgbClr val="1E2761"/>
                </a:solidFill>
              </a:rPr>
              <a:t>Not tested against a frontier model.</a:t>
            </a:r>
          </a:p>
        </p:txBody>
      </p:sp>
      <p:sp>
        <p:nvSpPr>
          <p:cNvPr id="13" name="TextBox 12"/>
          <p:cNvSpPr txBox="1"/>
          <p:nvPr/>
        </p:nvSpPr>
        <p:spPr>
          <a:xfrm>
            <a:off x="685800" y="3758184"/>
            <a:ext cx="10957255" cy="749808"/>
          </a:xfrm>
          <a:prstGeom prst="rect">
            <a:avLst/>
          </a:prstGeom>
          <a:noFill/>
        </p:spPr>
        <p:txBody>
          <a:bodyPr wrap="square">
            <a:spAutoFit/>
          </a:bodyPr>
          <a:lstStyle/>
          <a:p>
            <a:pPr algn="l"/>
            <a:r>
              <a:rPr sz="1300" b="0" i="0">
                <a:solidFill>
                  <a:srgbClr val="1A1A2E"/>
                </a:solidFill>
              </a:rPr>
              <a:t>The exp1_gaps_only collapse is llama-specific — may disappear on GPT-4o / Claude Sonnet. A frontier rerun on just that cell (~$1) would make or break the "gaps are load-bearing" claim.</a:t>
            </a:r>
          </a:p>
        </p:txBody>
      </p:sp>
      <p:sp>
        <p:nvSpPr>
          <p:cNvPr id="14" name="Rectangle 13"/>
          <p:cNvSpPr/>
          <p:nvPr/>
        </p:nvSpPr>
        <p:spPr>
          <a:xfrm>
            <a:off x="502920" y="4617720"/>
            <a:ext cx="73152" cy="10789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17720"/>
            <a:ext cx="10957255" cy="292608"/>
          </a:xfrm>
          <a:prstGeom prst="rect">
            <a:avLst/>
          </a:prstGeom>
          <a:noFill/>
        </p:spPr>
        <p:txBody>
          <a:bodyPr wrap="square">
            <a:spAutoFit/>
          </a:bodyPr>
          <a:lstStyle/>
          <a:p>
            <a:pPr algn="l"/>
            <a:r>
              <a:rPr sz="1400" b="1" i="0">
                <a:solidFill>
                  <a:srgbClr val="1E2761"/>
                </a:solidFill>
              </a:rPr>
              <a:t>n ≈ 20–30 per cell supports direction, not a p-value.</a:t>
            </a:r>
          </a:p>
        </p:txBody>
      </p:sp>
      <p:sp>
        <p:nvSpPr>
          <p:cNvPr id="16" name="TextBox 15"/>
          <p:cNvSpPr txBox="1"/>
          <p:nvPr/>
        </p:nvSpPr>
        <p:spPr>
          <a:xfrm>
            <a:off x="685800" y="4946904"/>
            <a:ext cx="10957255" cy="749808"/>
          </a:xfrm>
          <a:prstGeom prst="rect">
            <a:avLst/>
          </a:prstGeom>
          <a:noFill/>
        </p:spPr>
        <p:txBody>
          <a:bodyPr wrap="square">
            <a:spAutoFit/>
          </a:bodyPr>
          <a:lstStyle/>
          <a:p>
            <a:pPr algn="l"/>
            <a:r>
              <a:rPr sz="1300" b="0" i="0">
                <a:solidFill>
                  <a:srgbClr val="1A1A2E"/>
                </a:solidFill>
              </a:rPr>
              <a:t>Rigorous stats need n ≥ 30 per cell and multiple random A/B file splits. Fine-tuning path (Phase 4) is dry-run-only until A100 access.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Reproducibility — 2026-04-13 Regex A/B</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Full bash in docs/AB_RE2_REPORT.md § Reproducibility</a:t>
            </a:r>
          </a:p>
        </p:txBody>
      </p:sp>
      <p:sp>
        <p:nvSpPr>
          <p:cNvPr id="5" name="Rectangle 4"/>
          <p:cNvSpPr/>
          <p:nvPr/>
        </p:nvSpPr>
        <p:spPr>
          <a:xfrm>
            <a:off x="502920" y="1051560"/>
            <a:ext cx="5501487" cy="2651760"/>
          </a:xfrm>
          <a:prstGeom prst="rect">
            <a:avLst/>
          </a:prstGeom>
          <a:solidFill>
            <a:srgbClr val="F0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24712"/>
            <a:ext cx="5318607" cy="2560320"/>
          </a:xfrm>
          <a:prstGeom prst="rect">
            <a:avLst/>
          </a:prstGeom>
          <a:noFill/>
        </p:spPr>
        <p:txBody>
          <a:bodyPr wrap="square">
            <a:spAutoFit/>
          </a:bodyPr>
          <a:lstStyle/>
          <a:p>
            <a:pPr algn="l"/>
            <a:r>
              <a:rPr sz="1000" b="0" i="0">
                <a:solidFill>
                  <a:srgbClr val="1A1A2E"/>
                </a:solidFill>
              </a:rPr>
              <a:t># exp1 (gap-targeted)
UTCF_LITELLM_URL=https://api.ai.it.ufl.edu UTCF_LLM_RPM=12 \
.venv/bin/python -m synthesis.scripts.generate_inputs \
    --target re2 --model llama-3.1-8b-instruct --samples 3 --experiment exp1 \
    --input-format regex \
    --dataset-root dataset/fixtures/re2_ab \
    --results-root dataset/fixtures/re2_ab/phase3_results</a:t>
            </a:r>
          </a:p>
        </p:txBody>
      </p:sp>
      <p:sp>
        <p:nvSpPr>
          <p:cNvPr id="7" name="Rectangle 6"/>
          <p:cNvSpPr/>
          <p:nvPr/>
        </p:nvSpPr>
        <p:spPr>
          <a:xfrm>
            <a:off x="6187287" y="1051560"/>
            <a:ext cx="5501487" cy="2651760"/>
          </a:xfrm>
          <a:prstGeom prst="rect">
            <a:avLst/>
          </a:prstGeom>
          <a:solidFill>
            <a:srgbClr val="F0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78727" y="1124712"/>
            <a:ext cx="5318607" cy="2560320"/>
          </a:xfrm>
          <a:prstGeom prst="rect">
            <a:avLst/>
          </a:prstGeom>
          <a:noFill/>
        </p:spPr>
        <p:txBody>
          <a:bodyPr wrap="square">
            <a:spAutoFit/>
          </a:bodyPr>
          <a:lstStyle/>
          <a:p>
            <a:pPr algn="l"/>
            <a:r>
              <a:rPr sz="1000" b="0" i="0">
                <a:solidFill>
                  <a:srgbClr val="1A1A2E"/>
                </a:solidFill>
              </a:rPr>
              <a:t># exp2 (source-only)
UTCF_LITELLM_URL=https://api.ai.it.ufl.edu UTCF_LLM_RPM=12 \
.venv/bin/python -m synthesis.scripts.generate_source_inputs \
    --target re2 --model llama-3.1-8b-instruct --samples 3 \
    --source-max-files 4 --source-token-budget 14000 --max-tokens 8192 \
    --input-format regex \
    --results-root dataset/fixtures/re2_ab/exp2_results
# coverage + diff — see AB report for measure_coverage + ab_coverage_diff</a:t>
            </a:r>
          </a:p>
        </p:txBody>
      </p:sp>
      <p:sp>
        <p:nvSpPr>
          <p:cNvPr id="9" name="TextBox 8"/>
          <p:cNvSpPr txBox="1"/>
          <p:nvPr/>
        </p:nvSpPr>
        <p:spPr>
          <a:xfrm>
            <a:off x="502920" y="3840480"/>
            <a:ext cx="11185855" cy="274320"/>
          </a:xfrm>
          <a:prstGeom prst="rect">
            <a:avLst/>
          </a:prstGeom>
          <a:noFill/>
        </p:spPr>
        <p:txBody>
          <a:bodyPr wrap="square">
            <a:spAutoFit/>
          </a:bodyPr>
          <a:lstStyle/>
          <a:p>
            <a:pPr algn="l"/>
            <a:r>
              <a:rPr sz="1300" b="1" i="0">
                <a:solidFill>
                  <a:srgbClr val="1E2761"/>
                </a:solidFill>
              </a:rPr>
              <a:t>Total LLM spend: ~$0.007   ·   Wall-clock: under 2 minutes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Decision Asks</a:t>
            </a:r>
          </a:p>
        </p:txBody>
      </p:sp>
      <p:sp>
        <p:nvSpPr>
          <p:cNvPr id="4" name="TextBox 3"/>
          <p:cNvSpPr txBox="1"/>
          <p:nvPr/>
        </p:nvSpPr>
        <p:spPr>
          <a:xfrm>
            <a:off x="502920" y="658368"/>
            <a:ext cx="11185855" cy="274320"/>
          </a:xfrm>
          <a:prstGeom prst="rect">
            <a:avLst/>
          </a:prstGeom>
          <a:noFill/>
        </p:spPr>
        <p:txBody>
          <a:bodyPr wrap="square">
            <a:spAutoFit/>
          </a:bodyPr>
          <a:lstStyle/>
          <a:p>
            <a:pPr algn="l"/>
            <a:r>
              <a:rPr sz="1300" b="0" i="0">
                <a:solidFill>
                  <a:srgbClr val="CADCFC"/>
                </a:solidFill>
              </a:rPr>
              <a:t>Four items for professor review — updated to reflect generalization results</a:t>
            </a:r>
          </a:p>
        </p:txBody>
      </p:sp>
      <p:sp>
        <p:nvSpPr>
          <p:cNvPr id="5" name="Rectangle 4"/>
          <p:cNvSpPr/>
          <p:nvPr/>
        </p:nvSpPr>
        <p:spPr>
          <a:xfrm>
            <a:off x="502920" y="1051560"/>
            <a:ext cx="548640"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307592"/>
            <a:ext cx="438912" cy="502920"/>
          </a:xfrm>
          <a:prstGeom prst="rect">
            <a:avLst/>
          </a:prstGeom>
          <a:noFill/>
        </p:spPr>
        <p:txBody>
          <a:bodyPr wrap="square">
            <a:spAutoFit/>
          </a:bodyPr>
          <a:lstStyle/>
          <a:p>
            <a:pPr algn="ctr"/>
            <a:r>
              <a:rPr sz="2200" b="1" i="0">
                <a:solidFill>
                  <a:srgbClr val="FFFFFF"/>
                </a:solidFill>
              </a:rPr>
              <a:t>1</a:t>
            </a:r>
          </a:p>
        </p:txBody>
      </p:sp>
      <p:sp>
        <p:nvSpPr>
          <p:cNvPr id="7" name="TextBox 6"/>
          <p:cNvSpPr txBox="1"/>
          <p:nvPr/>
        </p:nvSpPr>
        <p:spPr>
          <a:xfrm>
            <a:off x="1188720" y="1097280"/>
            <a:ext cx="10408615" cy="292608"/>
          </a:xfrm>
          <a:prstGeom prst="rect">
            <a:avLst/>
          </a:prstGeom>
          <a:noFill/>
        </p:spPr>
        <p:txBody>
          <a:bodyPr wrap="square">
            <a:spAutoFit/>
          </a:bodyPr>
          <a:lstStyle/>
          <a:p>
            <a:pPr algn="l"/>
            <a:r>
              <a:rPr sz="1400" b="1" i="0">
                <a:solidFill>
                  <a:srgbClr val="1E2761"/>
                </a:solidFill>
              </a:rPr>
              <a:t>Authorize a frontier-model rerun of Experiment B</a:t>
            </a:r>
          </a:p>
        </p:txBody>
      </p:sp>
      <p:sp>
        <p:nvSpPr>
          <p:cNvPr id="8" name="TextBox 7"/>
          <p:cNvSpPr txBox="1"/>
          <p:nvPr/>
        </p:nvSpPr>
        <p:spPr>
          <a:xfrm>
            <a:off x="1188720" y="1435608"/>
            <a:ext cx="10408615" cy="685800"/>
          </a:xfrm>
          <a:prstGeom prst="rect">
            <a:avLst/>
          </a:prstGeom>
          <a:noFill/>
        </p:spPr>
        <p:txBody>
          <a:bodyPr wrap="square">
            <a:spAutoFit/>
          </a:bodyPr>
          <a:lstStyle/>
          <a:p>
            <a:pPr algn="l"/>
            <a:r>
              <a:rPr sz="1200" b="0" i="0">
                <a:solidFill>
                  <a:srgbClr val="1A1A2E"/>
                </a:solidFill>
              </a:rPr>
              <a:t>GPT-4o / Claude Sonnet on the 7-cell ablation. ~$10 LLM spend. Tests whether exp1_gaps_only's collapse is model-specific and whether exp2_plus_gaps stays ahead of exp1_full.</a:t>
            </a:r>
          </a:p>
        </p:txBody>
      </p:sp>
      <p:sp>
        <p:nvSpPr>
          <p:cNvPr id="9" name="Rectangle 8"/>
          <p:cNvSpPr/>
          <p:nvPr/>
        </p:nvSpPr>
        <p:spPr>
          <a:xfrm>
            <a:off x="502920" y="2240280"/>
            <a:ext cx="548640"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2496312"/>
            <a:ext cx="438912" cy="502920"/>
          </a:xfrm>
          <a:prstGeom prst="rect">
            <a:avLst/>
          </a:prstGeom>
          <a:noFill/>
        </p:spPr>
        <p:txBody>
          <a:bodyPr wrap="square">
            <a:spAutoFit/>
          </a:bodyPr>
          <a:lstStyle/>
          <a:p>
            <a:pPr algn="ctr"/>
            <a:r>
              <a:rPr sz="2200" b="1" i="0">
                <a:solidFill>
                  <a:srgbClr val="FFFFFF"/>
                </a:solidFill>
              </a:rPr>
              <a:t>2</a:t>
            </a:r>
          </a:p>
        </p:txBody>
      </p:sp>
      <p:sp>
        <p:nvSpPr>
          <p:cNvPr id="11" name="TextBox 10"/>
          <p:cNvSpPr txBox="1"/>
          <p:nvPr/>
        </p:nvSpPr>
        <p:spPr>
          <a:xfrm>
            <a:off x="1188720" y="2286000"/>
            <a:ext cx="10408615" cy="292608"/>
          </a:xfrm>
          <a:prstGeom prst="rect">
            <a:avLst/>
          </a:prstGeom>
          <a:noFill/>
        </p:spPr>
        <p:txBody>
          <a:bodyPr wrap="square">
            <a:spAutoFit/>
          </a:bodyPr>
          <a:lstStyle/>
          <a:p>
            <a:pPr algn="l"/>
            <a:r>
              <a:rPr sz="1400" b="1" i="0">
                <a:solidFill>
                  <a:srgbClr val="1E2761"/>
                </a:solidFill>
              </a:rPr>
              <a:t>Commit to per-target prompt templates for any new target</a:t>
            </a:r>
          </a:p>
        </p:txBody>
      </p:sp>
      <p:sp>
        <p:nvSpPr>
          <p:cNvPr id="12" name="TextBox 11"/>
          <p:cNvSpPr txBox="1"/>
          <p:nvPr/>
        </p:nvSpPr>
        <p:spPr>
          <a:xfrm>
            <a:off x="1188720" y="2624328"/>
            <a:ext cx="10408615" cy="685800"/>
          </a:xfrm>
          <a:prstGeom prst="rect">
            <a:avLst/>
          </a:prstGeom>
          <a:noFill/>
        </p:spPr>
        <p:txBody>
          <a:bodyPr wrap="square">
            <a:spAutoFit/>
          </a:bodyPr>
          <a:lstStyle/>
          <a:p>
            <a:pPr algn="l"/>
            <a:r>
              <a:rPr sz="1200" b="0" i="0">
                <a:solidFill>
                  <a:srgbClr val="1A1A2E"/>
                </a:solidFill>
              </a:rPr>
              <a:t>RE2 demonstrates this is non-optional. Regex for RE2, SQL for sqlite, binary header for libpng. Template reuse across targets will produce misleading results.</a:t>
            </a:r>
          </a:p>
        </p:txBody>
      </p:sp>
      <p:sp>
        <p:nvSpPr>
          <p:cNvPr id="13" name="Rectangle 12"/>
          <p:cNvSpPr/>
          <p:nvPr/>
        </p:nvSpPr>
        <p:spPr>
          <a:xfrm>
            <a:off x="502920" y="3429000"/>
            <a:ext cx="548640"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3685032"/>
            <a:ext cx="438912" cy="502920"/>
          </a:xfrm>
          <a:prstGeom prst="rect">
            <a:avLst/>
          </a:prstGeom>
          <a:noFill/>
        </p:spPr>
        <p:txBody>
          <a:bodyPr wrap="square">
            <a:spAutoFit/>
          </a:bodyPr>
          <a:lstStyle/>
          <a:p>
            <a:pPr algn="ctr"/>
            <a:r>
              <a:rPr sz="2200" b="1" i="0">
                <a:solidFill>
                  <a:srgbClr val="FFFFFF"/>
                </a:solidFill>
              </a:rPr>
              <a:t>3</a:t>
            </a:r>
          </a:p>
        </p:txBody>
      </p:sp>
      <p:sp>
        <p:nvSpPr>
          <p:cNvPr id="15" name="TextBox 14"/>
          <p:cNvSpPr txBox="1"/>
          <p:nvPr/>
        </p:nvSpPr>
        <p:spPr>
          <a:xfrm>
            <a:off x="1188720" y="3474720"/>
            <a:ext cx="10408615" cy="292608"/>
          </a:xfrm>
          <a:prstGeom prst="rect">
            <a:avLst/>
          </a:prstGeom>
          <a:noFill/>
        </p:spPr>
        <p:txBody>
          <a:bodyPr wrap="square">
            <a:spAutoFit/>
          </a:bodyPr>
          <a:lstStyle/>
          <a:p>
            <a:pPr algn="l"/>
            <a:r>
              <a:rPr sz="1400" b="1" i="0">
                <a:solidFill>
                  <a:srgbClr val="1E2761"/>
                </a:solidFill>
              </a:rPr>
              <a:t>Promote exp2_plus_gaps to the reference recipe</a:t>
            </a:r>
          </a:p>
        </p:txBody>
      </p:sp>
      <p:sp>
        <p:nvSpPr>
          <p:cNvPr id="16" name="TextBox 15"/>
          <p:cNvSpPr txBox="1"/>
          <p:nvPr/>
        </p:nvSpPr>
        <p:spPr>
          <a:xfrm>
            <a:off x="1188720" y="3813048"/>
            <a:ext cx="10408615" cy="685800"/>
          </a:xfrm>
          <a:prstGeom prst="rect">
            <a:avLst/>
          </a:prstGeom>
          <a:noFill/>
        </p:spPr>
        <p:txBody>
          <a:bodyPr wrap="square">
            <a:spAutoFit/>
          </a:bodyPr>
          <a:lstStyle/>
          <a:p>
            <a:pPr algn="l"/>
            <a:r>
              <a:rPr sz="1200" b="0" i="0">
                <a:solidFill>
                  <a:srgbClr val="1A1A2E"/>
                </a:solidFill>
              </a:rPr>
              <a:t>Source + coverage gaps (no tests) is the efficient frontier on this fixture (+7 over exp1_full, +117 over exp2_source). Recommend adopting as the default configuration going forward.</a:t>
            </a:r>
          </a:p>
        </p:txBody>
      </p:sp>
      <p:sp>
        <p:nvSpPr>
          <p:cNvPr id="17" name="Rectangle 16"/>
          <p:cNvSpPr/>
          <p:nvPr/>
        </p:nvSpPr>
        <p:spPr>
          <a:xfrm>
            <a:off x="502920" y="4617720"/>
            <a:ext cx="548640"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4873752"/>
            <a:ext cx="438912" cy="502920"/>
          </a:xfrm>
          <a:prstGeom prst="rect">
            <a:avLst/>
          </a:prstGeom>
          <a:noFill/>
        </p:spPr>
        <p:txBody>
          <a:bodyPr wrap="square">
            <a:spAutoFit/>
          </a:bodyPr>
          <a:lstStyle/>
          <a:p>
            <a:pPr algn="ctr"/>
            <a:r>
              <a:rPr sz="2200" b="1" i="0">
                <a:solidFill>
                  <a:srgbClr val="FFFFFF"/>
                </a:solidFill>
              </a:rPr>
              <a:t>4</a:t>
            </a:r>
          </a:p>
        </p:txBody>
      </p:sp>
      <p:sp>
        <p:nvSpPr>
          <p:cNvPr id="19" name="TextBox 18"/>
          <p:cNvSpPr txBox="1"/>
          <p:nvPr/>
        </p:nvSpPr>
        <p:spPr>
          <a:xfrm>
            <a:off x="1188720" y="4663440"/>
            <a:ext cx="10408615" cy="292608"/>
          </a:xfrm>
          <a:prstGeom prst="rect">
            <a:avLst/>
          </a:prstGeom>
          <a:noFill/>
        </p:spPr>
        <p:txBody>
          <a:bodyPr wrap="square">
            <a:spAutoFit/>
          </a:bodyPr>
          <a:lstStyle/>
          <a:p>
            <a:pPr algn="l"/>
            <a:r>
              <a:rPr sz="1400" b="1" i="0">
                <a:solidFill>
                  <a:srgbClr val="1E2761"/>
                </a:solidFill>
              </a:rPr>
              <a:t>Unblock Experiment C</a:t>
            </a:r>
          </a:p>
        </p:txBody>
      </p:sp>
      <p:sp>
        <p:nvSpPr>
          <p:cNvPr id="20" name="TextBox 19"/>
          <p:cNvSpPr txBox="1"/>
          <p:nvPr/>
        </p:nvSpPr>
        <p:spPr>
          <a:xfrm>
            <a:off x="1188720" y="5001768"/>
            <a:ext cx="10408615" cy="685800"/>
          </a:xfrm>
          <a:prstGeom prst="rect">
            <a:avLst/>
          </a:prstGeom>
          <a:noFill/>
        </p:spPr>
        <p:txBody>
          <a:bodyPr wrap="square">
            <a:spAutoFit/>
          </a:bodyPr>
          <a:lstStyle/>
          <a:p>
            <a:pPr algn="l"/>
            <a:r>
              <a:rPr sz="1200" b="0" i="0">
                <a:solidFill>
                  <a:srgbClr val="1A1A2E"/>
                </a:solidFill>
              </a:rPr>
              <a:t>build/fuzzer/ rebuild + ~9 CPU-hours for 1h × 3-trial libFuzzer campaigns. Or the earlier 29,440 CPU-hour 24h-campaign ask. The regex-format seeds are the right input to that run.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185855" cy="594360"/>
          </a:xfrm>
          <a:prstGeom prst="rect">
            <a:avLst/>
          </a:prstGeom>
          <a:noFill/>
        </p:spPr>
        <p:txBody>
          <a:bodyPr wrap="square">
            <a:spAutoFit/>
          </a:bodyPr>
          <a:lstStyle/>
          <a:p>
            <a:pPr algn="l"/>
            <a:r>
              <a:rPr sz="2800" b="1" i="0">
                <a:solidFill>
                  <a:srgbClr val="FFFFFF"/>
                </a:solidFill>
              </a:rPr>
              <a:t>Backing Material</a:t>
            </a:r>
          </a:p>
        </p:txBody>
      </p:sp>
      <p:sp>
        <p:nvSpPr>
          <p:cNvPr id="4" name="TextBox 3"/>
          <p:cNvSpPr txBox="1"/>
          <p:nvPr/>
        </p:nvSpPr>
        <p:spPr>
          <a:xfrm>
            <a:off x="502920" y="1051560"/>
            <a:ext cx="4250624" cy="292608"/>
          </a:xfrm>
          <a:prstGeom prst="rect">
            <a:avLst/>
          </a:prstGeom>
          <a:noFill/>
        </p:spPr>
        <p:txBody>
          <a:bodyPr wrap="square">
            <a:spAutoFit/>
          </a:bodyPr>
          <a:lstStyle/>
          <a:p>
            <a:pPr algn="l"/>
            <a:r>
              <a:rPr sz="1200" b="1" i="0">
                <a:solidFill>
                  <a:srgbClr val="1E2761"/>
                </a:solidFill>
              </a:rPr>
              <a:t>docs/STATUS.md</a:t>
            </a:r>
          </a:p>
        </p:txBody>
      </p:sp>
      <p:sp>
        <p:nvSpPr>
          <p:cNvPr id="5" name="TextBox 4"/>
          <p:cNvSpPr txBox="1"/>
          <p:nvPr/>
        </p:nvSpPr>
        <p:spPr>
          <a:xfrm>
            <a:off x="502920" y="1353312"/>
            <a:ext cx="11185855" cy="502920"/>
          </a:xfrm>
          <a:prstGeom prst="rect">
            <a:avLst/>
          </a:prstGeom>
          <a:noFill/>
        </p:spPr>
        <p:txBody>
          <a:bodyPr wrap="square">
            <a:spAutoFit/>
          </a:bodyPr>
          <a:lstStyle/>
          <a:p>
            <a:pPr algn="l"/>
            <a:r>
              <a:rPr sz="1200" b="0" i="0">
                <a:solidFill>
                  <a:srgbClr val="1A1A2E"/>
                </a:solidFill>
              </a:rPr>
              <a:t>Living handoff doc. Read first for current state, active work, planned next steps, and the 1-screen pipeline overview.</a:t>
            </a:r>
          </a:p>
        </p:txBody>
      </p:sp>
      <p:sp>
        <p:nvSpPr>
          <p:cNvPr id="6" name="TextBox 5"/>
          <p:cNvSpPr txBox="1"/>
          <p:nvPr/>
        </p:nvSpPr>
        <p:spPr>
          <a:xfrm>
            <a:off x="502920" y="1920240"/>
            <a:ext cx="4250624" cy="292608"/>
          </a:xfrm>
          <a:prstGeom prst="rect">
            <a:avLst/>
          </a:prstGeom>
          <a:noFill/>
        </p:spPr>
        <p:txBody>
          <a:bodyPr wrap="square">
            <a:spAutoFit/>
          </a:bodyPr>
          <a:lstStyle/>
          <a:p>
            <a:pPr algn="l"/>
            <a:r>
              <a:rPr sz="1200" b="1" i="0">
                <a:solidFill>
                  <a:srgbClr val="1E2761"/>
                </a:solidFill>
              </a:rPr>
              <a:t>docs/AB_RE2_REPORT.md</a:t>
            </a:r>
          </a:p>
        </p:txBody>
      </p:sp>
      <p:sp>
        <p:nvSpPr>
          <p:cNvPr id="7" name="TextBox 6"/>
          <p:cNvSpPr txBox="1"/>
          <p:nvPr/>
        </p:nvSpPr>
        <p:spPr>
          <a:xfrm>
            <a:off x="502920" y="2221992"/>
            <a:ext cx="11185855" cy="502920"/>
          </a:xfrm>
          <a:prstGeom prst="rect">
            <a:avLst/>
          </a:prstGeom>
          <a:noFill/>
        </p:spPr>
        <p:txBody>
          <a:bodyPr wrap="square">
            <a:spAutoFit/>
          </a:bodyPr>
          <a:lstStyle/>
          <a:p>
            <a:pPr algn="l"/>
            <a:r>
              <a:rPr sz="1200" b="0" i="0">
                <a:solidFill>
                  <a:srgbClr val="1A1A2E"/>
                </a:solidFill>
              </a:rPr>
              <a:t>Full A/B writeup — headline numbers, bytes-run archive, reproducibility bash.</a:t>
            </a:r>
          </a:p>
        </p:txBody>
      </p:sp>
      <p:sp>
        <p:nvSpPr>
          <p:cNvPr id="8" name="TextBox 7"/>
          <p:cNvSpPr txBox="1"/>
          <p:nvPr/>
        </p:nvSpPr>
        <p:spPr>
          <a:xfrm>
            <a:off x="502920" y="2788920"/>
            <a:ext cx="4250624" cy="292608"/>
          </a:xfrm>
          <a:prstGeom prst="rect">
            <a:avLst/>
          </a:prstGeom>
          <a:noFill/>
        </p:spPr>
        <p:txBody>
          <a:bodyPr wrap="square">
            <a:spAutoFit/>
          </a:bodyPr>
          <a:lstStyle/>
          <a:p>
            <a:pPr algn="l"/>
            <a:r>
              <a:rPr sz="1200" b="1" i="0">
                <a:solidFill>
                  <a:srgbClr val="1E2761"/>
                </a:solidFill>
              </a:rPr>
              <a:t>docs/claude_code_plan_v3.md  /  docs/research_document_v3.md</a:t>
            </a:r>
          </a:p>
        </p:txBody>
      </p:sp>
      <p:sp>
        <p:nvSpPr>
          <p:cNvPr id="9" name="TextBox 8"/>
          <p:cNvSpPr txBox="1"/>
          <p:nvPr/>
        </p:nvSpPr>
        <p:spPr>
          <a:xfrm>
            <a:off x="502920" y="3090672"/>
            <a:ext cx="11185855" cy="502920"/>
          </a:xfrm>
          <a:prstGeom prst="rect">
            <a:avLst/>
          </a:prstGeom>
          <a:noFill/>
        </p:spPr>
        <p:txBody>
          <a:bodyPr wrap="square">
            <a:spAutoFit/>
          </a:bodyPr>
          <a:lstStyle/>
          <a:p>
            <a:pPr algn="l"/>
            <a:r>
              <a:rPr sz="1200" b="0" i="0">
                <a:solidFill>
                  <a:srgbClr val="1A1A2E"/>
                </a:solidFill>
              </a:rPr>
              <a:t>Authoritative execution plan + research design.</a:t>
            </a:r>
          </a:p>
        </p:txBody>
      </p:sp>
      <p:sp>
        <p:nvSpPr>
          <p:cNvPr id="10" name="TextBox 9"/>
          <p:cNvSpPr txBox="1"/>
          <p:nvPr/>
        </p:nvSpPr>
        <p:spPr>
          <a:xfrm>
            <a:off x="502920" y="3657600"/>
            <a:ext cx="4250624" cy="292608"/>
          </a:xfrm>
          <a:prstGeom prst="rect">
            <a:avLst/>
          </a:prstGeom>
          <a:noFill/>
        </p:spPr>
        <p:txBody>
          <a:bodyPr wrap="square">
            <a:spAutoFit/>
          </a:bodyPr>
          <a:lstStyle/>
          <a:p>
            <a:pPr algn="l"/>
            <a:r>
              <a:rPr sz="1200" b="1" i="0">
                <a:solidFill>
                  <a:srgbClr val="1E2761"/>
                </a:solidFill>
              </a:rPr>
              <a:t>analysis/scripts/ab_coverage_diff.py</a:t>
            </a:r>
          </a:p>
        </p:txBody>
      </p:sp>
      <p:sp>
        <p:nvSpPr>
          <p:cNvPr id="11" name="TextBox 10"/>
          <p:cNvSpPr txBox="1"/>
          <p:nvPr/>
        </p:nvSpPr>
        <p:spPr>
          <a:xfrm>
            <a:off x="502920" y="3959352"/>
            <a:ext cx="11185855" cy="502920"/>
          </a:xfrm>
          <a:prstGeom prst="rect">
            <a:avLst/>
          </a:prstGeom>
          <a:noFill/>
        </p:spPr>
        <p:txBody>
          <a:bodyPr wrap="square">
            <a:spAutoFit/>
          </a:bodyPr>
          <a:lstStyle/>
          <a:p>
            <a:pPr algn="l"/>
            <a:r>
              <a:rPr sz="1200" b="0" i="0">
                <a:solidFill>
                  <a:srgbClr val="1A1A2E"/>
                </a:solidFill>
              </a:rPr>
              <a:t>Turns two CoverageProfile JSONs into set-wise line/edge diff + Jaccard + per-file tables. Source of every number in the results slides.</a:t>
            </a:r>
          </a:p>
        </p:txBody>
      </p:sp>
      <p:sp>
        <p:nvSpPr>
          <p:cNvPr id="12" name="TextBox 11"/>
          <p:cNvSpPr txBox="1"/>
          <p:nvPr/>
        </p:nvSpPr>
        <p:spPr>
          <a:xfrm>
            <a:off x="502920" y="4526280"/>
            <a:ext cx="4250624" cy="292608"/>
          </a:xfrm>
          <a:prstGeom prst="rect">
            <a:avLst/>
          </a:prstGeom>
          <a:noFill/>
        </p:spPr>
        <p:txBody>
          <a:bodyPr wrap="square">
            <a:spAutoFit/>
          </a:bodyPr>
          <a:lstStyle/>
          <a:p>
            <a:pPr algn="l"/>
            <a:r>
              <a:rPr sz="1200" b="1" i="0">
                <a:solidFill>
                  <a:srgbClr val="1E2761"/>
                </a:solidFill>
              </a:rPr>
              <a:t>dataset/fixtures/re2_ab/ab_coverage/</a:t>
            </a:r>
          </a:p>
        </p:txBody>
      </p:sp>
      <p:sp>
        <p:nvSpPr>
          <p:cNvPr id="13" name="TextBox 12"/>
          <p:cNvSpPr txBox="1"/>
          <p:nvPr/>
        </p:nvSpPr>
        <p:spPr>
          <a:xfrm>
            <a:off x="502920" y="4828032"/>
            <a:ext cx="11185855" cy="502920"/>
          </a:xfrm>
          <a:prstGeom prst="rect">
            <a:avLst/>
          </a:prstGeom>
          <a:noFill/>
        </p:spPr>
        <p:txBody>
          <a:bodyPr wrap="square">
            <a:spAutoFit/>
          </a:bodyPr>
          <a:lstStyle/>
          <a:p>
            <a:pPr algn="l"/>
            <a:r>
              <a:rPr sz="1200" b="0" i="0">
                <a:solidFill>
                  <a:srgbClr val="1A1A2E"/>
                </a:solidFill>
              </a:rPr>
              <a:t>exp1.json, exp2.json, ab_coverage_diff.{json,md} this deck is built 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